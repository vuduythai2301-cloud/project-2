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7" r:id="rId5"/>
    <p:sldId id="307" r:id="rId6"/>
    <p:sldId id="278" r:id="rId7"/>
    <p:sldId id="308" r:id="rId8"/>
    <p:sldId id="309" r:id="rId9"/>
    <p:sldId id="263" r:id="rId10"/>
    <p:sldId id="310" r:id="rId11"/>
    <p:sldId id="321" r:id="rId12"/>
    <p:sldId id="320" r:id="rId13"/>
    <p:sldId id="318" r:id="rId14"/>
    <p:sldId id="312" r:id="rId15"/>
    <p:sldId id="314" r:id="rId16"/>
    <p:sldId id="319"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405" autoAdjust="0"/>
  </p:normalViewPr>
  <p:slideViewPr>
    <p:cSldViewPr snapToGrid="0">
      <p:cViewPr varScale="1">
        <p:scale>
          <a:sx n="113" d="100"/>
          <a:sy n="113" d="100"/>
        </p:scale>
        <p:origin x="510" y="8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11/11/2025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11/11/2025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925961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109310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848082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err="1"/>
              <a:t>Bảng</a:t>
            </a:r>
            <a:r>
              <a:rPr lang="en-US" dirty="0"/>
              <a:t> </a:t>
            </a:r>
            <a:r>
              <a:rPr lang="en-US" dirty="0" err="1"/>
              <a:t>báo</a:t>
            </a:r>
            <a:r>
              <a:rPr lang="en-US" dirty="0"/>
              <a:t> </a:t>
            </a:r>
            <a:r>
              <a:rPr lang="en-US" dirty="0" err="1"/>
              <a:t>cáo</a:t>
            </a: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t>MỤC LỤC</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477426940"/>
              </p:ext>
            </p:extLst>
          </p:nvPr>
        </p:nvGraphicFramePr>
        <p:xfrm>
          <a:off x="5612998" y="1121591"/>
          <a:ext cx="5641848" cy="4614818"/>
        </p:xfrm>
        <a:graphic>
          <a:graphicData uri="http://schemas.openxmlformats.org/drawingml/2006/table">
            <a:tbl>
              <a:tblPr firstRow="1" bandRow="1"/>
              <a:tblGrid>
                <a:gridCol w="5641848">
                  <a:extLst>
                    <a:ext uri="{9D8B030D-6E8A-4147-A177-3AD203B41FA5}">
                      <a16:colId xmlns:a16="http://schemas.microsoft.com/office/drawing/2014/main" val="1563570424"/>
                    </a:ext>
                  </a:extLst>
                </a:gridCol>
              </a:tblGrid>
              <a:tr h="782798">
                <a:tc>
                  <a:txBody>
                    <a:bodyPr/>
                    <a:lstStyle/>
                    <a:p>
                      <a:pPr algn="r"/>
                      <a:r>
                        <a:rPr lang="en-US" sz="2400" b="0" dirty="0">
                          <a:latin typeface="+mj-lt"/>
                        </a:rPr>
                        <a:t>KHÁCH HÀNG</a:t>
                      </a:r>
                    </a:p>
                    <a:p>
                      <a:pPr algn="r"/>
                      <a:r>
                        <a:rPr lang="en-US" sz="2400" b="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008">
                <a:tc>
                  <a:txBody>
                    <a:bodyPr/>
                    <a:lstStyle/>
                    <a:p>
                      <a:pPr marL="0" algn="r" defTabSz="914400" rtl="0" eaLnBrk="1" latinLnBrk="0" hangingPunct="1"/>
                      <a:r>
                        <a:rPr lang="en-US" sz="2400" b="0" kern="1200" dirty="0">
                          <a:solidFill>
                            <a:schemeClr val="tx1"/>
                          </a:solidFill>
                          <a:latin typeface="+mj-lt"/>
                          <a:ea typeface="+mn-ea"/>
                          <a:cs typeface="+mn-cs"/>
                        </a:rPr>
                        <a:t>TÌNH HÌNH KINH DOANH</a:t>
                      </a:r>
                    </a:p>
                    <a:p>
                      <a:pPr marL="0" algn="r" defTabSz="914400" rtl="0" eaLnBrk="1" latinLnBrk="0" hangingPunct="1"/>
                      <a:r>
                        <a:rPr lang="en-US" sz="2400" b="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98987">
                <a:tc>
                  <a:txBody>
                    <a:bodyPr/>
                    <a:lstStyle/>
                    <a:p>
                      <a:pPr marL="0" algn="r" defTabSz="914400" rtl="0" eaLnBrk="1" latinLnBrk="0" hangingPunct="1"/>
                      <a:r>
                        <a:rPr lang="en-US" sz="2400" b="0" kern="1200" dirty="0">
                          <a:solidFill>
                            <a:schemeClr val="tx1"/>
                          </a:solidFill>
                          <a:latin typeface="+mj-lt"/>
                          <a:ea typeface="+mn-ea"/>
                          <a:cs typeface="+mn-cs"/>
                        </a:rPr>
                        <a:t>CÁC KHOẢN CHI CỦA CÔNG TY</a:t>
                      </a:r>
                    </a:p>
                    <a:p>
                      <a:pPr marL="0" algn="r" defTabSz="914400" rtl="0" eaLnBrk="1" latinLnBrk="0" hangingPunct="1"/>
                      <a:r>
                        <a:rPr lang="en-US" sz="2400" b="0" kern="1200" dirty="0">
                          <a:solidFill>
                            <a:schemeClr val="tx1"/>
                          </a:solidFill>
                          <a:latin typeface="+mj-lt"/>
                          <a:ea typeface="+mn-ea"/>
                          <a:cs typeface="+mn-cs"/>
                        </a:rPr>
                        <a:t>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902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GIẢI PHÁP</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8</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854835">
                <a:tc>
                  <a:txBody>
                    <a:bodyPr/>
                    <a:lstStyle/>
                    <a:p>
                      <a:pPr marL="0" algn="r" defTabSz="914400" rtl="0" eaLnBrk="1" latinLnBrk="0" hangingPunct="1"/>
                      <a:r>
                        <a:rPr lang="en-US" sz="2400" b="0" kern="1200" dirty="0">
                          <a:solidFill>
                            <a:schemeClr val="tx1"/>
                          </a:solidFill>
                          <a:latin typeface="+mj-lt"/>
                          <a:ea typeface="+mn-ea"/>
                          <a:cs typeface="+mn-cs"/>
                        </a:rPr>
                        <a:t>KẾT LUẬN</a:t>
                      </a:r>
                    </a:p>
                    <a:p>
                      <a:pPr marL="0" algn="r" defTabSz="914400" rtl="0" eaLnBrk="1" latinLnBrk="0" hangingPunct="1"/>
                      <a:r>
                        <a:rPr lang="en-US" sz="2400" b="0" kern="1200" dirty="0">
                          <a:solidFill>
                            <a:schemeClr val="tx1"/>
                          </a:solidFill>
                          <a:latin typeface="+mj-lt"/>
                          <a:ea typeface="+mn-ea"/>
                          <a:cs typeface="+mn-cs"/>
                        </a:rPr>
                        <a:t>10</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BC4D4F-5E7D-45DF-AD18-F8D3059E53FA}"/>
              </a:ext>
            </a:extLst>
          </p:cNvPr>
          <p:cNvSpPr>
            <a:spLocks noGrp="1"/>
          </p:cNvSpPr>
          <p:nvPr>
            <p:ph type="ctrTitle"/>
          </p:nvPr>
        </p:nvSpPr>
        <p:spPr/>
        <p:txBody>
          <a:bodyPr/>
          <a:lstStyle/>
          <a:p>
            <a:r>
              <a:rPr lang="en-US" sz="1600" dirty="0">
                <a:latin typeface="Sagona Book (Headings)"/>
                <a:cs typeface="Times New Roman" panose="02020603050405020304" pitchFamily="18" charset="0"/>
              </a:rPr>
              <a:t>Theo </a:t>
            </a:r>
            <a:r>
              <a:rPr lang="en-US" sz="1600" dirty="0" err="1">
                <a:latin typeface="Sagona Book (Headings)"/>
                <a:cs typeface="Times New Roman" panose="02020603050405020304" pitchFamily="18" charset="0"/>
              </a:rPr>
              <a:t>như</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số</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liệu</a:t>
            </a:r>
            <a:r>
              <a:rPr lang="en-US" sz="1600" dirty="0">
                <a:latin typeface="Sagona Book (Headings)"/>
                <a:cs typeface="Times New Roman" panose="02020603050405020304" pitchFamily="18" charset="0"/>
              </a:rPr>
              <a:t> ta </a:t>
            </a:r>
            <a:r>
              <a:rPr lang="en-US" sz="1600" dirty="0" err="1">
                <a:latin typeface="Sagona Book (Headings)"/>
                <a:cs typeface="Times New Roman" panose="02020603050405020304" pitchFamily="18" charset="0"/>
              </a:rPr>
              <a:t>có</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thể</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thấy</a:t>
            </a:r>
            <a:r>
              <a:rPr lang="en-US" sz="1600" dirty="0">
                <a:latin typeface="Sagona Book (Headings)"/>
                <a:cs typeface="Times New Roman" panose="02020603050405020304" pitchFamily="18" charset="0"/>
              </a:rPr>
              <a:t>:</a:t>
            </a:r>
            <a:br>
              <a:rPr lang="en-US" sz="1600" dirty="0">
                <a:latin typeface="Sagona Book (Headings)"/>
                <a:cs typeface="Times New Roman" panose="02020603050405020304" pitchFamily="18" charset="0"/>
              </a:rPr>
            </a:br>
            <a:r>
              <a:rPr lang="en-US" sz="1600" dirty="0">
                <a:latin typeface="Sagona Book (Headings)"/>
                <a:cs typeface="Times New Roman" panose="02020603050405020304" pitchFamily="18" charset="0"/>
              </a:rPr>
              <a:t>	- </a:t>
            </a:r>
            <a:r>
              <a:rPr lang="en-US" sz="1600" dirty="0" err="1">
                <a:latin typeface="Sagona Book (Headings)"/>
                <a:cs typeface="Times New Roman" panose="02020603050405020304" pitchFamily="18" charset="0"/>
              </a:rPr>
              <a:t>Công</a:t>
            </a:r>
            <a:r>
              <a:rPr lang="en-US" sz="1600" dirty="0">
                <a:latin typeface="Sagona Book (Headings)"/>
                <a:cs typeface="Times New Roman" panose="02020603050405020304" pitchFamily="18" charset="0"/>
              </a:rPr>
              <a:t> ty </a:t>
            </a:r>
            <a:r>
              <a:rPr lang="en-US" sz="1600" dirty="0" err="1">
                <a:latin typeface="Sagona Book (Headings)"/>
                <a:cs typeface="Times New Roman" panose="02020603050405020304" pitchFamily="18" charset="0"/>
              </a:rPr>
              <a:t>đang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được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quan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tâm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nhiều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hơn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bởi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phái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nữ</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phái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nữ</a:t>
            </a:r>
            <a:r>
              <a:rPr lang="en-US" sz="1600" dirty="0">
                <a:latin typeface="Sagona Book (Headings)"/>
                <a:cs typeface="Times New Roman" panose="02020603050405020304" pitchFamily="18" charset="0"/>
              </a:rPr>
              <a:t> ở </a:t>
            </a:r>
            <a:r>
              <a:rPr lang="en-US" sz="1600" dirty="0" err="1">
                <a:latin typeface="Sagona Book (Headings)"/>
                <a:cs typeface="Times New Roman" panose="02020603050405020304" pitchFamily="18" charset="0"/>
              </a:rPr>
              <a:t>các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thành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phố</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hơn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như</a:t>
            </a:r>
            <a:r>
              <a:rPr lang="en-US" sz="1600" dirty="0">
                <a:latin typeface="Sagona Book (Headings)"/>
                <a:cs typeface="Times New Roman" panose="02020603050405020304" pitchFamily="18" charset="0"/>
              </a:rPr>
              <a:t> </a:t>
            </a:r>
            <a:r>
              <a:rPr lang="en-US" sz="1600" b="1" dirty="0">
                <a:latin typeface="Sagona Book (Headings)"/>
                <a:cs typeface="Times New Roman" panose="02020603050405020304" pitchFamily="18" charset="0"/>
              </a:rPr>
              <a:t>California,</a:t>
            </a:r>
            <a:r>
              <a:rPr lang="en-US" sz="1600" dirty="0">
                <a:latin typeface="Sagona Book (Headings)"/>
                <a:cs typeface="Times New Roman" panose="02020603050405020304" pitchFamily="18" charset="0"/>
              </a:rPr>
              <a:t> </a:t>
            </a:r>
            <a:r>
              <a:rPr lang="en-US" sz="1600" b="1" dirty="0">
                <a:latin typeface="Sagona Book (Headings)"/>
                <a:cs typeface="Times New Roman" panose="02020603050405020304" pitchFamily="18" charset="0"/>
              </a:rPr>
              <a:t>Chicago </a:t>
            </a:r>
            <a:r>
              <a:rPr lang="en-US" sz="1600" dirty="0" err="1">
                <a:latin typeface="Sagona Book (Headings)"/>
                <a:cs typeface="Times New Roman" panose="02020603050405020304" pitchFamily="18" charset="0"/>
              </a:rPr>
              <a:t>và</a:t>
            </a:r>
            <a:r>
              <a:rPr lang="en-US" sz="1600" dirty="0">
                <a:latin typeface="Sagona Book (Headings)"/>
                <a:cs typeface="Times New Roman" panose="02020603050405020304" pitchFamily="18" charset="0"/>
              </a:rPr>
              <a:t> </a:t>
            </a:r>
            <a:r>
              <a:rPr lang="en-US" sz="1600" b="1" dirty="0">
                <a:latin typeface="Sagona Book (Headings)"/>
                <a:cs typeface="Times New Roman" panose="02020603050405020304" pitchFamily="18" charset="0"/>
              </a:rPr>
              <a:t>New York </a:t>
            </a:r>
            <a:r>
              <a:rPr lang="en-US" sz="1600" dirty="0" err="1">
                <a:latin typeface="Sagona Book (Headings)"/>
                <a:cs typeface="Times New Roman" panose="02020603050405020304" pitchFamily="18" charset="0"/>
              </a:rPr>
              <a:t>chiếm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tỉ</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trọng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hơn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nam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rất</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nhiều</a:t>
            </a:r>
            <a:r>
              <a:rPr lang="en-US" sz="1600" dirty="0">
                <a:latin typeface="Sagona Book (Headings)"/>
                <a:cs typeface="Times New Roman" panose="02020603050405020304" pitchFamily="18" charset="0"/>
              </a:rPr>
              <a:t>.</a:t>
            </a:r>
            <a:br>
              <a:rPr lang="en-US" sz="1600" dirty="0">
                <a:latin typeface="Sagona Book (Headings)"/>
                <a:cs typeface="Times New Roman" panose="02020603050405020304" pitchFamily="18" charset="0"/>
              </a:rPr>
            </a:br>
            <a:r>
              <a:rPr lang="en-US" sz="1600" dirty="0">
                <a:latin typeface="Sagona Book (Headings)"/>
                <a:cs typeface="Times New Roman" panose="02020603050405020304" pitchFamily="18" charset="0"/>
              </a:rPr>
              <a:t>	- </a:t>
            </a:r>
            <a:r>
              <a:rPr lang="en-US" sz="1600" dirty="0" err="1">
                <a:latin typeface="Sagona Book (Headings)"/>
                <a:cs typeface="Times New Roman" panose="02020603050405020304" pitchFamily="18" charset="0"/>
              </a:rPr>
              <a:t>Nhưng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khi</a:t>
            </a:r>
            <a:r>
              <a:rPr lang="en-US" sz="1600" dirty="0">
                <a:latin typeface="Sagona Book (Headings)"/>
                <a:cs typeface="Times New Roman" panose="02020603050405020304" pitchFamily="18" charset="0"/>
              </a:rPr>
              <a:t> ta </a:t>
            </a:r>
            <a:r>
              <a:rPr lang="en-US" sz="1600" dirty="0" err="1">
                <a:latin typeface="Sagona Book (Headings)"/>
                <a:cs typeface="Times New Roman" panose="02020603050405020304" pitchFamily="18" charset="0"/>
              </a:rPr>
              <a:t>nhìn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lên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biểu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đồ</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tròn</a:t>
            </a:r>
            <a:r>
              <a:rPr lang="en-US" sz="1600" dirty="0">
                <a:latin typeface="Sagona Book (Headings)"/>
                <a:cs typeface="Times New Roman" panose="02020603050405020304" pitchFamily="18" charset="0"/>
              </a:rPr>
              <a:t> ta </a:t>
            </a:r>
            <a:r>
              <a:rPr lang="en-US" sz="1600" dirty="0" err="1">
                <a:latin typeface="Sagona Book (Headings)"/>
                <a:cs typeface="Times New Roman" panose="02020603050405020304" pitchFamily="18" charset="0"/>
              </a:rPr>
              <a:t>thấy</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được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tỉ</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lệ</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khách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hàng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nam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sử</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dụng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lâu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dài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và</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gắn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bó</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hơn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với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công</a:t>
            </a:r>
            <a:r>
              <a:rPr lang="en-US" sz="1600" dirty="0">
                <a:latin typeface="Sagona Book (Headings)"/>
                <a:cs typeface="Times New Roman" panose="02020603050405020304" pitchFamily="18" charset="0"/>
              </a:rPr>
              <a:t> ty </a:t>
            </a:r>
            <a:r>
              <a:rPr lang="en-US" sz="1600" dirty="0" err="1">
                <a:latin typeface="Sagona Book (Headings)"/>
                <a:cs typeface="Times New Roman" panose="02020603050405020304" pitchFamily="18" charset="0"/>
              </a:rPr>
              <a:t>lại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là</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khách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hàng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nam</a:t>
            </a:r>
            <a:r>
              <a:rPr lang="en-US" sz="1600" dirty="0">
                <a:latin typeface="Sagona Book (Headings)"/>
                <a:cs typeface="Times New Roman" panose="02020603050405020304" pitchFamily="18" charset="0"/>
              </a:rPr>
              <a:t>.</a:t>
            </a:r>
            <a:br>
              <a:rPr lang="en-US" sz="1600" dirty="0">
                <a:latin typeface="Sagona Book (Headings)"/>
                <a:cs typeface="Times New Roman" panose="02020603050405020304" pitchFamily="18" charset="0"/>
              </a:rPr>
            </a:br>
            <a:r>
              <a:rPr lang="en-US" sz="1600" dirty="0">
                <a:latin typeface="Sagona Book (Headings)"/>
                <a:cs typeface="Times New Roman" panose="02020603050405020304" pitchFamily="18" charset="0"/>
              </a:rPr>
              <a:t>	</a:t>
            </a:r>
            <a:br>
              <a:rPr lang="en-US" sz="1600" dirty="0">
                <a:latin typeface="Sagona Book (Headings)"/>
                <a:cs typeface="Times New Roman" panose="02020603050405020304" pitchFamily="18" charset="0"/>
              </a:rPr>
            </a:br>
            <a:r>
              <a:rPr lang="en-US" sz="1600" dirty="0">
                <a:latin typeface="Sagona Book (Headings)"/>
                <a:cs typeface="Times New Roman" panose="02020603050405020304" pitchFamily="18" charset="0"/>
              </a:rPr>
              <a:t>=&gt; </a:t>
            </a:r>
            <a:r>
              <a:rPr lang="en-US" sz="1600" dirty="0" err="1">
                <a:latin typeface="Sagona Book (Headings)"/>
                <a:cs typeface="Times New Roman" panose="02020603050405020304" pitchFamily="18" charset="0"/>
              </a:rPr>
              <a:t>Từ</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đó</a:t>
            </a:r>
            <a:r>
              <a:rPr lang="en-US" sz="1600" dirty="0">
                <a:latin typeface="Sagona Book (Headings)"/>
                <a:cs typeface="Times New Roman" panose="02020603050405020304" pitchFamily="18" charset="0"/>
              </a:rPr>
              <a:t> ta </a:t>
            </a:r>
            <a:r>
              <a:rPr lang="en-US" sz="1600" dirty="0" err="1">
                <a:latin typeface="Sagona Book (Headings)"/>
                <a:cs typeface="Times New Roman" panose="02020603050405020304" pitchFamily="18" charset="0"/>
              </a:rPr>
              <a:t>có</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thể</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kết</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luận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rằng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công</a:t>
            </a:r>
            <a:r>
              <a:rPr lang="en-US" sz="1600" dirty="0">
                <a:latin typeface="Sagona Book (Headings)"/>
                <a:cs typeface="Times New Roman" panose="02020603050405020304" pitchFamily="18" charset="0"/>
              </a:rPr>
              <a:t> ty </a:t>
            </a:r>
            <a:r>
              <a:rPr lang="en-US" sz="1600" dirty="0" err="1">
                <a:latin typeface="Sagona Book (Headings)"/>
                <a:cs typeface="Times New Roman" panose="02020603050405020304" pitchFamily="18" charset="0"/>
              </a:rPr>
              <a:t>đang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hút</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được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nhiều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khách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hàng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nữ</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nhưng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sản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phẩm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thì</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đang</a:t>
            </a:r>
            <a:r>
              <a:rPr lang="en-US" sz="1600" dirty="0">
                <a:latin typeface="Sagona Book (Headings)"/>
                <a:cs typeface="Times New Roman" panose="02020603050405020304" pitchFamily="18" charset="0"/>
              </a:rPr>
              <a:t> k </a:t>
            </a:r>
            <a:r>
              <a:rPr lang="en-US" sz="1600" dirty="0" err="1">
                <a:latin typeface="Sagona Book (Headings)"/>
                <a:cs typeface="Times New Roman" panose="02020603050405020304" pitchFamily="18" charset="0"/>
              </a:rPr>
              <a:t>giữ</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chân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được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họ</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dù</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họ</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là</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những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người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mua</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chính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Trong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khách</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hàng</a:t>
            </a:r>
            <a:r>
              <a:rPr lang="en-US" sz="1600" dirty="0">
                <a:latin typeface="Sagona Book (Headings)"/>
                <a:cs typeface="Times New Roman" panose="02020603050405020304" pitchFamily="18" charset="0"/>
              </a:rPr>
              <a:t> Nam </a:t>
            </a:r>
            <a:r>
              <a:rPr lang="en-US" sz="1600" dirty="0" err="1">
                <a:latin typeface="Sagona Book (Headings)"/>
                <a:cs typeface="Times New Roman" panose="02020603050405020304" pitchFamily="18" charset="0"/>
              </a:rPr>
              <a:t>là</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những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người</a:t>
            </a:r>
            <a:r>
              <a:rPr lang="en-US" sz="1600" dirty="0">
                <a:latin typeface="Sagona Book (Headings)"/>
                <a:cs typeface="Times New Roman" panose="02020603050405020304" pitchFamily="18" charset="0"/>
              </a:rPr>
              <a:t> ở </a:t>
            </a:r>
            <a:r>
              <a:rPr lang="en-US" sz="1600" dirty="0" err="1">
                <a:latin typeface="Sagona Book (Headings)"/>
                <a:cs typeface="Times New Roman" panose="02020603050405020304" pitchFamily="18" charset="0"/>
              </a:rPr>
              <a:t>lại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với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công</a:t>
            </a:r>
            <a:r>
              <a:rPr lang="en-US" sz="1600" dirty="0">
                <a:latin typeface="Sagona Book (Headings)"/>
                <a:cs typeface="Times New Roman" panose="02020603050405020304" pitchFamily="18" charset="0"/>
              </a:rPr>
              <a:t> ty </a:t>
            </a:r>
            <a:r>
              <a:rPr lang="en-US" sz="1600" dirty="0" err="1">
                <a:latin typeface="Sagona Book (Headings)"/>
                <a:cs typeface="Times New Roman" panose="02020603050405020304" pitchFamily="18" charset="0"/>
              </a:rPr>
              <a:t>nhưng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sản</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phẩm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lại</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chưa</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thực</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sự</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làm</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họ</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muốn</a:t>
            </a:r>
            <a:r>
              <a:rPr lang="en-US" sz="1600" dirty="0">
                <a:latin typeface="Sagona Book (Headings)"/>
                <a:cs typeface="Times New Roman" panose="02020603050405020304" pitchFamily="18" charset="0"/>
              </a:rPr>
              <a:t> chi </a:t>
            </a:r>
            <a:r>
              <a:rPr lang="en-US" sz="1600" dirty="0" err="1">
                <a:latin typeface="Sagona Book (Headings)"/>
                <a:cs typeface="Times New Roman" panose="02020603050405020304" pitchFamily="18" charset="0"/>
              </a:rPr>
              <a:t>tiền</a:t>
            </a:r>
            <a:r>
              <a:rPr lang="en-US" sz="1600" dirty="0">
                <a:latin typeface="Sagona Book (Headings)"/>
                <a:cs typeface="Times New Roman" panose="02020603050405020304" pitchFamily="18" charset="0"/>
              </a:rPr>
              <a:t> ra </a:t>
            </a:r>
            <a:r>
              <a:rPr lang="en-US" sz="1600" dirty="0" err="1">
                <a:latin typeface="Sagona Book (Headings)"/>
                <a:cs typeface="Times New Roman" panose="02020603050405020304" pitchFamily="18" charset="0"/>
              </a:rPr>
              <a:t>sử</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dụng</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nhiều</a:t>
            </a:r>
            <a:r>
              <a:rPr lang="en-US" sz="1600" dirty="0">
                <a:latin typeface="Sagona Book (Headings)"/>
                <a:cs typeface="Times New Roman" panose="02020603050405020304" pitchFamily="18" charset="0"/>
              </a:rPr>
              <a:t> </a:t>
            </a:r>
            <a:r>
              <a:rPr lang="en-US" sz="1600" dirty="0" err="1">
                <a:latin typeface="Sagona Book (Headings)"/>
                <a:cs typeface="Times New Roman" panose="02020603050405020304" pitchFamily="18" charset="0"/>
              </a:rPr>
              <a:t>hơn</a:t>
            </a:r>
            <a:r>
              <a:rPr lang="en-US" sz="1600" dirty="0">
                <a:latin typeface="Sagona Book (Headings)"/>
                <a:cs typeface="Times New Roman" panose="02020603050405020304" pitchFamily="18" charset="0"/>
              </a:rPr>
              <a:t>.</a:t>
            </a:r>
          </a:p>
        </p:txBody>
      </p:sp>
      <p:pic>
        <p:nvPicPr>
          <p:cNvPr id="17" name="Content Placeholder 16">
            <a:extLst>
              <a:ext uri="{FF2B5EF4-FFF2-40B4-BE49-F238E27FC236}">
                <a16:creationId xmlns:a16="http://schemas.microsoft.com/office/drawing/2014/main" id="{C240C054-AB70-4484-A17E-7FB78BFD1853}"/>
              </a:ext>
            </a:extLst>
          </p:cNvPr>
          <p:cNvPicPr>
            <a:picLocks noGrp="1" noChangeAspect="1"/>
          </p:cNvPicPr>
          <p:nvPr>
            <p:ph sz="quarter" idx="13"/>
          </p:nvPr>
        </p:nvPicPr>
        <p:blipFill>
          <a:blip r:embed="rId3"/>
          <a:stretch>
            <a:fillRect/>
          </a:stretch>
        </p:blipFill>
        <p:spPr>
          <a:xfrm>
            <a:off x="6850613" y="711200"/>
            <a:ext cx="5341387" cy="2546423"/>
          </a:xfrm>
        </p:spPr>
      </p:pic>
      <p:pic>
        <p:nvPicPr>
          <p:cNvPr id="20" name="Picture 19">
            <a:extLst>
              <a:ext uri="{FF2B5EF4-FFF2-40B4-BE49-F238E27FC236}">
                <a16:creationId xmlns:a16="http://schemas.microsoft.com/office/drawing/2014/main" id="{E70BE963-04E6-4E1B-802B-2F19502E74ED}"/>
              </a:ext>
            </a:extLst>
          </p:cNvPr>
          <p:cNvPicPr>
            <a:picLocks noChangeAspect="1"/>
          </p:cNvPicPr>
          <p:nvPr/>
        </p:nvPicPr>
        <p:blipFill>
          <a:blip r:embed="rId4"/>
          <a:stretch>
            <a:fillRect/>
          </a:stretch>
        </p:blipFill>
        <p:spPr>
          <a:xfrm>
            <a:off x="6850613" y="3257623"/>
            <a:ext cx="5341387" cy="2546423"/>
          </a:xfrm>
          <a:prstGeom prst="rect">
            <a:avLst/>
          </a:prstGeom>
        </p:spPr>
      </p:pic>
      <p:sp>
        <p:nvSpPr>
          <p:cNvPr id="22" name="TextBox 21">
            <a:extLst>
              <a:ext uri="{FF2B5EF4-FFF2-40B4-BE49-F238E27FC236}">
                <a16:creationId xmlns:a16="http://schemas.microsoft.com/office/drawing/2014/main" id="{8A54A01C-DB08-4E0D-9BC8-8BC504217054}"/>
              </a:ext>
            </a:extLst>
          </p:cNvPr>
          <p:cNvSpPr txBox="1"/>
          <p:nvPr/>
        </p:nvSpPr>
        <p:spPr>
          <a:xfrm>
            <a:off x="914400" y="234146"/>
            <a:ext cx="6096000" cy="477054"/>
          </a:xfrm>
          <a:prstGeom prst="rect">
            <a:avLst/>
          </a:prstGeom>
          <a:noFill/>
        </p:spPr>
        <p:txBody>
          <a:bodyPr wrap="square" rtlCol="0">
            <a:spAutoFit/>
          </a:bodyPr>
          <a:lstStyle/>
          <a:p>
            <a:r>
              <a:rPr lang="en-US" sz="2500" dirty="0">
                <a:latin typeface="Sagona Book (Headings)"/>
              </a:rPr>
              <a:t>KHÁCH</a:t>
            </a:r>
            <a:r>
              <a:rPr lang="en-US" sz="2500" dirty="0"/>
              <a:t> </a:t>
            </a:r>
            <a:r>
              <a:rPr lang="en-US" sz="2500" dirty="0">
                <a:latin typeface="Sagona Book (Headings)"/>
              </a:rPr>
              <a:t>HÀNG</a:t>
            </a:r>
          </a:p>
        </p:txBody>
      </p:sp>
    </p:spTree>
    <p:extLst>
      <p:ext uri="{BB962C8B-B14F-4D97-AF65-F5344CB8AC3E}">
        <p14:creationId xmlns:p14="http://schemas.microsoft.com/office/powerpoint/2010/main" val="52000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AFB0ED9-50F1-40CC-897E-854F93E78898}"/>
              </a:ext>
            </a:extLst>
          </p:cNvPr>
          <p:cNvSpPr>
            <a:spLocks noGrp="1"/>
          </p:cNvSpPr>
          <p:nvPr>
            <p:ph type="ctrTitle"/>
          </p:nvPr>
        </p:nvSpPr>
        <p:spPr/>
        <p:txBody>
          <a:bodyPr/>
          <a:lstStyle/>
          <a:p>
            <a:r>
              <a:rPr lang="en-US" sz="1600" b="1" dirty="0" err="1"/>
              <a:t>Nhìn</a:t>
            </a:r>
            <a:r>
              <a:rPr lang="en-US" sz="1600" b="1" dirty="0"/>
              <a:t> </a:t>
            </a:r>
            <a:r>
              <a:rPr lang="en-US" sz="1600" b="1" dirty="0" err="1"/>
              <a:t>bảng</a:t>
            </a:r>
            <a:r>
              <a:rPr lang="en-US" sz="1600" b="1" dirty="0"/>
              <a:t> ta </a:t>
            </a:r>
            <a:r>
              <a:rPr lang="en-US" sz="1600" b="1" dirty="0" err="1"/>
              <a:t>thấy</a:t>
            </a:r>
            <a:r>
              <a:rPr lang="en-US" sz="1600" b="1" dirty="0"/>
              <a:t>:</a:t>
            </a:r>
            <a:br>
              <a:rPr lang="en-US" sz="1600" b="1" dirty="0"/>
            </a:br>
            <a:r>
              <a:rPr lang="en-US" sz="1600" dirty="0"/>
              <a:t>	- </a:t>
            </a:r>
            <a:r>
              <a:rPr lang="en-US" sz="1600" dirty="0" err="1"/>
              <a:t>Sự</a:t>
            </a:r>
            <a:r>
              <a:rPr lang="en-US" sz="1600" dirty="0"/>
              <a:t> </a:t>
            </a:r>
            <a:r>
              <a:rPr lang="en-US" sz="1600" dirty="0" err="1"/>
              <a:t>chênh</a:t>
            </a:r>
            <a:r>
              <a:rPr lang="en-US" sz="1600" dirty="0"/>
              <a:t> </a:t>
            </a:r>
            <a:r>
              <a:rPr lang="en-US" sz="1600" dirty="0" err="1"/>
              <a:t>lệch</a:t>
            </a:r>
            <a:r>
              <a:rPr lang="en-US" sz="1600" dirty="0"/>
              <a:t> </a:t>
            </a:r>
            <a:r>
              <a:rPr lang="en-US" sz="1600" dirty="0" err="1"/>
              <a:t>về</a:t>
            </a:r>
            <a:r>
              <a:rPr lang="en-US" sz="1600" dirty="0"/>
              <a:t> </a:t>
            </a:r>
            <a:r>
              <a:rPr lang="en-US" sz="1600" dirty="0" err="1"/>
              <a:t>thời</a:t>
            </a:r>
            <a:r>
              <a:rPr lang="en-US" sz="1600" dirty="0"/>
              <a:t> </a:t>
            </a:r>
            <a:r>
              <a:rPr lang="en-US" sz="1600" dirty="0" err="1"/>
              <a:t>gian</a:t>
            </a:r>
            <a:r>
              <a:rPr lang="en-US" sz="1600" dirty="0"/>
              <a:t> </a:t>
            </a:r>
            <a:r>
              <a:rPr lang="en-US" sz="1600" dirty="0" err="1"/>
              <a:t>công</a:t>
            </a:r>
            <a:r>
              <a:rPr lang="en-US" sz="1600" dirty="0"/>
              <a:t> ty </a:t>
            </a:r>
            <a:r>
              <a:rPr lang="en-US" sz="1600" dirty="0" err="1"/>
              <a:t>giữ</a:t>
            </a:r>
            <a:r>
              <a:rPr lang="en-US" sz="1600" dirty="0"/>
              <a:t> </a:t>
            </a:r>
            <a:r>
              <a:rPr lang="en-US" sz="1600" dirty="0" err="1"/>
              <a:t>chân</a:t>
            </a:r>
            <a:r>
              <a:rPr lang="en-US" sz="1600" dirty="0"/>
              <a:t> </a:t>
            </a:r>
            <a:r>
              <a:rPr lang="en-US" sz="1600" dirty="0" err="1"/>
              <a:t>được</a:t>
            </a:r>
            <a:r>
              <a:rPr lang="en-US" sz="1600" dirty="0"/>
              <a:t> </a:t>
            </a:r>
            <a:r>
              <a:rPr lang="en-US" sz="1600" dirty="0" err="1"/>
              <a:t>khách</a:t>
            </a:r>
            <a:r>
              <a:rPr lang="en-US" sz="1600" dirty="0"/>
              <a:t> </a:t>
            </a:r>
            <a:r>
              <a:rPr lang="en-US" sz="1600" dirty="0" err="1"/>
              <a:t>hàng</a:t>
            </a:r>
            <a:r>
              <a:rPr lang="en-US" sz="1600" dirty="0"/>
              <a:t> </a:t>
            </a:r>
            <a:r>
              <a:rPr lang="en-US" sz="1600" dirty="0" err="1"/>
              <a:t>là</a:t>
            </a:r>
            <a:r>
              <a:rPr lang="en-US" sz="1600" dirty="0"/>
              <a:t> </a:t>
            </a:r>
            <a:r>
              <a:rPr lang="en-US" sz="1600" dirty="0" err="1"/>
              <a:t>lớn</a:t>
            </a:r>
            <a:r>
              <a:rPr lang="en-US" sz="1600" dirty="0"/>
              <a:t> </a:t>
            </a:r>
            <a:r>
              <a:rPr lang="en-US" sz="1600" dirty="0" err="1"/>
              <a:t>đến</a:t>
            </a:r>
            <a:r>
              <a:rPr lang="en-US" sz="1600" dirty="0"/>
              <a:t> </a:t>
            </a:r>
            <a:r>
              <a:rPr lang="en-US" sz="1600" dirty="0" err="1"/>
              <a:t>như</a:t>
            </a:r>
            <a:r>
              <a:rPr lang="en-US" sz="1600" dirty="0"/>
              <a:t> </a:t>
            </a:r>
            <a:r>
              <a:rPr lang="en-US" sz="1600" dirty="0" err="1"/>
              <a:t>nào</a:t>
            </a:r>
            <a:r>
              <a:rPr lang="en-US" sz="1600" dirty="0"/>
              <a:t>. Khi </a:t>
            </a:r>
            <a:r>
              <a:rPr lang="en-US" sz="1600" b="1" dirty="0"/>
              <a:t>California</a:t>
            </a:r>
            <a:r>
              <a:rPr lang="en-US" sz="1600" dirty="0"/>
              <a:t> </a:t>
            </a:r>
            <a:r>
              <a:rPr lang="en-US" sz="1600" dirty="0" err="1"/>
              <a:t>và</a:t>
            </a:r>
            <a:r>
              <a:rPr lang="en-US" sz="1600" dirty="0"/>
              <a:t> </a:t>
            </a:r>
            <a:r>
              <a:rPr lang="en-US" sz="1600" b="1" dirty="0"/>
              <a:t>Chicago</a:t>
            </a:r>
            <a:r>
              <a:rPr lang="en-US" sz="1600" dirty="0"/>
              <a:t> </a:t>
            </a:r>
            <a:r>
              <a:rPr lang="en-US" sz="1600" dirty="0" err="1"/>
              <a:t>có</a:t>
            </a:r>
            <a:r>
              <a:rPr lang="en-US" sz="1600" dirty="0"/>
              <a:t> </a:t>
            </a:r>
            <a:r>
              <a:rPr lang="en-US" sz="1600" dirty="0" err="1"/>
              <a:t>thời</a:t>
            </a:r>
            <a:r>
              <a:rPr lang="en-US" sz="1600" dirty="0"/>
              <a:t> </a:t>
            </a:r>
            <a:r>
              <a:rPr lang="en-US" sz="1600" dirty="0" err="1"/>
              <a:t>gian</a:t>
            </a:r>
            <a:r>
              <a:rPr lang="en-US" sz="1600" dirty="0"/>
              <a:t> </a:t>
            </a:r>
            <a:r>
              <a:rPr lang="en-US" sz="1600" dirty="0" err="1"/>
              <a:t>dữ</a:t>
            </a:r>
            <a:r>
              <a:rPr lang="en-US" sz="1600" dirty="0"/>
              <a:t> </a:t>
            </a:r>
            <a:r>
              <a:rPr lang="en-US" sz="1600" dirty="0" err="1"/>
              <a:t>chân</a:t>
            </a:r>
            <a:r>
              <a:rPr lang="en-US" sz="1600" dirty="0"/>
              <a:t> </a:t>
            </a:r>
            <a:r>
              <a:rPr lang="en-US" sz="1600" dirty="0" err="1"/>
              <a:t>khách</a:t>
            </a:r>
            <a:r>
              <a:rPr lang="en-US" sz="1600" dirty="0"/>
              <a:t> </a:t>
            </a:r>
            <a:r>
              <a:rPr lang="en-US" sz="1600" dirty="0" err="1"/>
              <a:t>hàng</a:t>
            </a:r>
            <a:r>
              <a:rPr lang="en-US" sz="1600" dirty="0"/>
              <a:t> </a:t>
            </a:r>
            <a:r>
              <a:rPr lang="en-US" sz="1600" dirty="0" err="1"/>
              <a:t>rất</a:t>
            </a:r>
            <a:r>
              <a:rPr lang="en-US" sz="1600" dirty="0"/>
              <a:t> </a:t>
            </a:r>
            <a:r>
              <a:rPr lang="en-US" sz="1600" dirty="0" err="1"/>
              <a:t>lâu</a:t>
            </a:r>
            <a:r>
              <a:rPr lang="en-US" sz="1600" dirty="0"/>
              <a:t> </a:t>
            </a:r>
            <a:r>
              <a:rPr lang="en-US" sz="1600" dirty="0" err="1"/>
              <a:t>và</a:t>
            </a:r>
            <a:r>
              <a:rPr lang="en-US" sz="1600" dirty="0"/>
              <a:t> </a:t>
            </a:r>
            <a:r>
              <a:rPr lang="en-US" sz="1600" b="1" dirty="0"/>
              <a:t>Washington DC </a:t>
            </a:r>
            <a:r>
              <a:rPr lang="en-US" sz="1600" dirty="0" err="1"/>
              <a:t>thì</a:t>
            </a:r>
            <a:r>
              <a:rPr lang="en-US" sz="1600" dirty="0"/>
              <a:t> </a:t>
            </a:r>
            <a:r>
              <a:rPr lang="en-US" sz="1600" dirty="0" err="1"/>
              <a:t>lại</a:t>
            </a:r>
            <a:r>
              <a:rPr lang="en-US" sz="1600" dirty="0"/>
              <a:t> </a:t>
            </a:r>
            <a:r>
              <a:rPr lang="en-US" sz="1600" dirty="0" err="1"/>
              <a:t>rất</a:t>
            </a:r>
            <a:r>
              <a:rPr lang="en-US" sz="1600" dirty="0"/>
              <a:t> </a:t>
            </a:r>
            <a:r>
              <a:rPr lang="en-US" sz="1600" dirty="0" err="1"/>
              <a:t>ít</a:t>
            </a:r>
            <a:r>
              <a:rPr lang="en-US" sz="1600" dirty="0"/>
              <a:t> </a:t>
            </a:r>
            <a:r>
              <a:rPr lang="en-US" sz="1600" dirty="0" err="1"/>
              <a:t>chưa</a:t>
            </a:r>
            <a:r>
              <a:rPr lang="en-US" sz="1600" dirty="0"/>
              <a:t> </a:t>
            </a:r>
            <a:r>
              <a:rPr lang="en-US" sz="1600" dirty="0" err="1"/>
              <a:t>bằng</a:t>
            </a:r>
            <a:r>
              <a:rPr lang="en-US" sz="1600" dirty="0"/>
              <a:t> 1/5 so </a:t>
            </a:r>
            <a:r>
              <a:rPr lang="en-US" sz="1600" dirty="0" err="1"/>
              <a:t>với</a:t>
            </a:r>
            <a:r>
              <a:rPr lang="en-US" sz="1600" dirty="0"/>
              <a:t> 2 </a:t>
            </a:r>
            <a:r>
              <a:rPr lang="en-US" sz="1600" dirty="0" err="1"/>
              <a:t>thành</a:t>
            </a:r>
            <a:r>
              <a:rPr lang="en-US" sz="1600" dirty="0"/>
              <a:t> </a:t>
            </a:r>
            <a:r>
              <a:rPr lang="en-US" sz="1600" dirty="0" err="1"/>
              <a:t>phố</a:t>
            </a:r>
            <a:r>
              <a:rPr lang="en-US" sz="1600" dirty="0"/>
              <a:t> </a:t>
            </a:r>
            <a:r>
              <a:rPr lang="en-US" sz="1600" dirty="0" err="1"/>
              <a:t>còn</a:t>
            </a:r>
            <a:r>
              <a:rPr lang="en-US" sz="1600" dirty="0"/>
              <a:t> </a:t>
            </a:r>
            <a:r>
              <a:rPr lang="en-US" sz="1600" dirty="0" err="1"/>
              <a:t>lại</a:t>
            </a:r>
            <a:r>
              <a:rPr lang="en-US" sz="1600" dirty="0"/>
              <a:t>.</a:t>
            </a:r>
            <a:br>
              <a:rPr lang="en-US" sz="1600" dirty="0"/>
            </a:br>
            <a:r>
              <a:rPr lang="en-US" sz="1600" dirty="0"/>
              <a:t>	- So </a:t>
            </a:r>
            <a:r>
              <a:rPr lang="en-US" sz="1600" dirty="0" err="1"/>
              <a:t>sánh</a:t>
            </a:r>
            <a:r>
              <a:rPr lang="en-US" sz="1600" dirty="0"/>
              <a:t> </a:t>
            </a:r>
            <a:r>
              <a:rPr lang="en-US" sz="1600" dirty="0" err="1"/>
              <a:t>lại</a:t>
            </a:r>
            <a:r>
              <a:rPr lang="en-US" sz="1600" dirty="0"/>
              <a:t> </a:t>
            </a:r>
            <a:r>
              <a:rPr lang="en-US" sz="1600" dirty="0" err="1"/>
              <a:t>với</a:t>
            </a:r>
            <a:r>
              <a:rPr lang="en-US" sz="1600" dirty="0"/>
              <a:t> </a:t>
            </a:r>
            <a:r>
              <a:rPr lang="en-US" sz="1600" dirty="0" err="1"/>
              <a:t>bảng</a:t>
            </a:r>
            <a:r>
              <a:rPr lang="en-US" sz="1600" dirty="0"/>
              <a:t> ở slide 3 </a:t>
            </a:r>
            <a:r>
              <a:rPr lang="en-US" sz="1600" dirty="0" err="1"/>
              <a:t>thì</a:t>
            </a:r>
            <a:r>
              <a:rPr lang="en-US" sz="1600" dirty="0"/>
              <a:t> ta </a:t>
            </a:r>
            <a:r>
              <a:rPr lang="en-US" sz="1600" dirty="0" err="1"/>
              <a:t>cũng</a:t>
            </a:r>
            <a:r>
              <a:rPr lang="en-US" sz="1600" dirty="0"/>
              <a:t> </a:t>
            </a:r>
            <a:r>
              <a:rPr lang="en-US" sz="1600" dirty="0" err="1"/>
              <a:t>thấy</a:t>
            </a:r>
            <a:r>
              <a:rPr lang="en-US" sz="1600" dirty="0"/>
              <a:t> </a:t>
            </a:r>
            <a:r>
              <a:rPr lang="en-US" sz="1600" dirty="0" err="1"/>
              <a:t>được</a:t>
            </a:r>
            <a:r>
              <a:rPr lang="en-US" sz="1600" dirty="0"/>
              <a:t> 1 </a:t>
            </a:r>
            <a:r>
              <a:rPr lang="en-US" sz="1600" dirty="0" err="1"/>
              <a:t>điều</a:t>
            </a:r>
            <a:r>
              <a:rPr lang="en-US" sz="1600" dirty="0"/>
              <a:t> </a:t>
            </a:r>
            <a:r>
              <a:rPr lang="en-US" sz="1600" dirty="0" err="1"/>
              <a:t>thời</a:t>
            </a:r>
            <a:r>
              <a:rPr lang="en-US" sz="1600" dirty="0"/>
              <a:t> </a:t>
            </a:r>
            <a:r>
              <a:rPr lang="en-US" sz="1600" dirty="0" err="1"/>
              <a:t>gian</a:t>
            </a:r>
            <a:r>
              <a:rPr lang="en-US" sz="1600" dirty="0"/>
              <a:t> </a:t>
            </a:r>
            <a:r>
              <a:rPr lang="en-US" sz="1600" dirty="0" err="1"/>
              <a:t>giữ</a:t>
            </a:r>
            <a:r>
              <a:rPr lang="en-US" sz="1600" dirty="0"/>
              <a:t> </a:t>
            </a:r>
            <a:r>
              <a:rPr lang="en-US" sz="1600" dirty="0" err="1"/>
              <a:t>chân</a:t>
            </a:r>
            <a:r>
              <a:rPr lang="en-US" sz="1600" dirty="0"/>
              <a:t> </a:t>
            </a:r>
            <a:r>
              <a:rPr lang="en-US" sz="1600" dirty="0" err="1"/>
              <a:t>khách</a:t>
            </a:r>
            <a:r>
              <a:rPr lang="en-US" sz="1600" dirty="0"/>
              <a:t> </a:t>
            </a:r>
            <a:r>
              <a:rPr lang="en-US" sz="1600" dirty="0" err="1"/>
              <a:t>hàng</a:t>
            </a:r>
            <a:r>
              <a:rPr lang="en-US" sz="1600" dirty="0"/>
              <a:t> </a:t>
            </a:r>
            <a:r>
              <a:rPr lang="en-US" sz="1600" dirty="0" err="1"/>
              <a:t>ít</a:t>
            </a:r>
            <a:r>
              <a:rPr lang="en-US" sz="1600" dirty="0"/>
              <a:t> </a:t>
            </a:r>
            <a:r>
              <a:rPr lang="en-US" sz="1600" dirty="0" err="1"/>
              <a:t>hơn</a:t>
            </a:r>
            <a:r>
              <a:rPr lang="en-US" sz="1600" dirty="0"/>
              <a:t> do </a:t>
            </a:r>
            <a:r>
              <a:rPr lang="en-US" sz="1600" dirty="0" err="1"/>
              <a:t>người</a:t>
            </a:r>
            <a:r>
              <a:rPr lang="en-US" sz="1600" dirty="0"/>
              <a:t> </a:t>
            </a:r>
            <a:r>
              <a:rPr lang="en-US" sz="1600" dirty="0" err="1"/>
              <a:t>mua</a:t>
            </a:r>
            <a:r>
              <a:rPr lang="en-US" sz="1600" dirty="0"/>
              <a:t> </a:t>
            </a:r>
            <a:r>
              <a:rPr lang="en-US" sz="1600" dirty="0" err="1"/>
              <a:t>hàng</a:t>
            </a:r>
            <a:r>
              <a:rPr lang="en-US" sz="1600" dirty="0"/>
              <a:t> ở </a:t>
            </a:r>
            <a:r>
              <a:rPr lang="en-US" sz="1600" dirty="0" err="1"/>
              <a:t>thành</a:t>
            </a:r>
            <a:r>
              <a:rPr lang="en-US" sz="1600" dirty="0"/>
              <a:t> </a:t>
            </a:r>
            <a:r>
              <a:rPr lang="en-US" sz="1600" dirty="0" err="1"/>
              <a:t>phố</a:t>
            </a:r>
            <a:r>
              <a:rPr lang="en-US" sz="1600" dirty="0"/>
              <a:t> </a:t>
            </a:r>
            <a:r>
              <a:rPr lang="en-US" sz="1600" dirty="0" err="1"/>
              <a:t>đó</a:t>
            </a:r>
            <a:r>
              <a:rPr lang="en-US" sz="1600" dirty="0"/>
              <a:t> </a:t>
            </a:r>
            <a:r>
              <a:rPr lang="en-US" sz="1600" dirty="0" err="1"/>
              <a:t>rất</a:t>
            </a:r>
            <a:r>
              <a:rPr lang="en-US" sz="1600" dirty="0"/>
              <a:t> </a:t>
            </a:r>
            <a:r>
              <a:rPr lang="en-US" sz="1600" dirty="0" err="1"/>
              <a:t>thấp</a:t>
            </a:r>
            <a:r>
              <a:rPr lang="en-US" sz="1600" dirty="0"/>
              <a:t>.</a:t>
            </a:r>
          </a:p>
        </p:txBody>
      </p:sp>
      <p:pic>
        <p:nvPicPr>
          <p:cNvPr id="39" name="Content Placeholder 38">
            <a:extLst>
              <a:ext uri="{FF2B5EF4-FFF2-40B4-BE49-F238E27FC236}">
                <a16:creationId xmlns:a16="http://schemas.microsoft.com/office/drawing/2014/main" id="{454F8E9C-1900-4FAF-AE7D-6CC0320EB97E}"/>
              </a:ext>
            </a:extLst>
          </p:cNvPr>
          <p:cNvPicPr>
            <a:picLocks noGrp="1" noChangeAspect="1"/>
          </p:cNvPicPr>
          <p:nvPr>
            <p:ph sz="quarter" idx="13"/>
          </p:nvPr>
        </p:nvPicPr>
        <p:blipFill>
          <a:blip r:embed="rId3"/>
          <a:stretch>
            <a:fillRect/>
          </a:stretch>
        </p:blipFill>
        <p:spPr>
          <a:xfrm>
            <a:off x="6848475" y="914400"/>
            <a:ext cx="5021792" cy="5029199"/>
          </a:xfrm>
        </p:spPr>
      </p:pic>
      <p:sp>
        <p:nvSpPr>
          <p:cNvPr id="41" name="TextBox 40">
            <a:extLst>
              <a:ext uri="{FF2B5EF4-FFF2-40B4-BE49-F238E27FC236}">
                <a16:creationId xmlns:a16="http://schemas.microsoft.com/office/drawing/2014/main" id="{C5F63150-DF1B-4FA5-BF67-087071DCAB4C}"/>
              </a:ext>
            </a:extLst>
          </p:cNvPr>
          <p:cNvSpPr txBox="1"/>
          <p:nvPr/>
        </p:nvSpPr>
        <p:spPr>
          <a:xfrm>
            <a:off x="914400" y="234146"/>
            <a:ext cx="6096000" cy="477054"/>
          </a:xfrm>
          <a:prstGeom prst="rect">
            <a:avLst/>
          </a:prstGeom>
          <a:noFill/>
        </p:spPr>
        <p:txBody>
          <a:bodyPr wrap="square" rtlCol="0">
            <a:spAutoFit/>
          </a:bodyPr>
          <a:lstStyle/>
          <a:p>
            <a:r>
              <a:rPr lang="en-US" sz="2500" dirty="0">
                <a:latin typeface="Sagona Book (Headings)"/>
              </a:rPr>
              <a:t>KHÁCH</a:t>
            </a:r>
            <a:r>
              <a:rPr lang="en-US" sz="2500" dirty="0"/>
              <a:t> </a:t>
            </a:r>
            <a:r>
              <a:rPr lang="en-US" sz="2500" dirty="0">
                <a:latin typeface="Sagona Book (Headings)"/>
              </a:rPr>
              <a:t>HÀNG</a:t>
            </a:r>
          </a:p>
        </p:txBody>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2EECB27-F89D-473E-A237-C77E2BD13644}"/>
              </a:ext>
            </a:extLst>
          </p:cNvPr>
          <p:cNvSpPr>
            <a:spLocks noGrp="1"/>
          </p:cNvSpPr>
          <p:nvPr>
            <p:ph type="ctrTitle"/>
          </p:nvPr>
        </p:nvSpPr>
        <p:spPr/>
        <p:txBody>
          <a:bodyPr/>
          <a:lstStyle/>
          <a:p>
            <a:r>
              <a:rPr lang="vi-VN" sz="1600" b="1" dirty="0"/>
              <a:t>Sản phẩm chủ lực (Cash Cow):</a:t>
            </a:r>
            <a:r>
              <a:rPr lang="vi-VN" sz="1600" dirty="0"/>
              <a:t> </a:t>
            </a:r>
            <a:r>
              <a:rPr lang="vi-VN" sz="1600" b="1" dirty="0"/>
              <a:t>Nest-USA</a:t>
            </a:r>
            <a:r>
              <a:rPr lang="vi-VN" sz="1600" dirty="0"/>
              <a:t> và </a:t>
            </a:r>
            <a:r>
              <a:rPr lang="vi-VN" sz="1600" b="1" dirty="0"/>
              <a:t>Nest</a:t>
            </a:r>
            <a:r>
              <a:rPr lang="vi-VN" sz="1600" dirty="0"/>
              <a:t> là động lực chính.</a:t>
            </a:r>
            <a:br>
              <a:rPr lang="vi-VN" sz="1600" dirty="0"/>
            </a:br>
            <a:r>
              <a:rPr lang="vi-VN" sz="1600" b="1" dirty="0"/>
              <a:t>Nest-USA</a:t>
            </a:r>
            <a:r>
              <a:rPr lang="vi-VN" sz="1600" dirty="0"/>
              <a:t> chiếm hơn </a:t>
            </a:r>
            <a:r>
              <a:rPr lang="vi-VN" sz="1600" b="1" dirty="0"/>
              <a:t>54.69%</a:t>
            </a:r>
            <a:r>
              <a:rPr lang="vi-VN" sz="1600" dirty="0"/>
              <a:t> tổng doanh thu (2.55 triệu USD).</a:t>
            </a:r>
            <a:br>
              <a:rPr lang="vi-VN" sz="1600" dirty="0"/>
            </a:br>
            <a:r>
              <a:rPr lang="vi-VN" sz="1600" b="1" dirty="0"/>
              <a:t>Nest</a:t>
            </a:r>
            <a:r>
              <a:rPr lang="vi-VN" sz="1600" dirty="0"/>
              <a:t> có </a:t>
            </a:r>
            <a:r>
              <a:rPr lang="vi-VN" sz="1600" b="1" dirty="0"/>
              <a:t>Giá trị trung bình mỗi giao dịch cao nhất</a:t>
            </a:r>
            <a:r>
              <a:rPr lang="vi-VN" sz="1600" dirty="0"/>
              <a:t> (262.51 USD). Điều này cho thấy đây là sản phẩm cao cấp hoặc có giá trị đơn hàng lớn.</a:t>
            </a:r>
            <a:br>
              <a:rPr lang="vi-VN" sz="1600" dirty="0"/>
            </a:br>
            <a:r>
              <a:rPr lang="vi-VN" sz="1600" b="1" dirty="0"/>
              <a:t>Sản phẩm số lượng lớn/Giá trị thấp:</a:t>
            </a:r>
            <a:r>
              <a:rPr lang="vi-VN" sz="1600" dirty="0"/>
              <a:t> </a:t>
            </a:r>
            <a:r>
              <a:rPr lang="vi-VN" sz="1600" b="1" dirty="0"/>
              <a:t>Drinkware, Apparel,</a:t>
            </a:r>
            <a:r>
              <a:rPr lang="vi-VN" sz="1600" dirty="0"/>
              <a:t> và </a:t>
            </a:r>
            <a:r>
              <a:rPr lang="vi-VN" sz="1600" b="1" dirty="0"/>
              <a:t>Office</a:t>
            </a:r>
            <a:r>
              <a:rPr lang="vi-VN" sz="1600" dirty="0"/>
              <a:t> có số lượng sản phẩm bán ra rất cao (hơn 88,000 chiếc cho Office), nhưng </a:t>
            </a:r>
            <a:r>
              <a:rPr lang="vi-VN" sz="1600" b="1" dirty="0"/>
              <a:t>Giá trị trung bình giao dịch thấp</a:t>
            </a:r>
            <a:r>
              <a:rPr lang="vi-VN" sz="1600" dirty="0"/>
              <a:t> (dưới 80 USD). Đây có thể là các mặt hàng khuyến mãi, giá rẻ hoặc sản phẩm "mồi".</a:t>
            </a:r>
            <a:br>
              <a:rPr lang="vi-VN" sz="1600" dirty="0"/>
            </a:br>
            <a:r>
              <a:rPr lang="vi-VN" sz="1600" b="1" dirty="0"/>
              <a:t>Cơ hội cải thiện:</a:t>
            </a:r>
            <a:r>
              <a:rPr lang="vi-VN" sz="1600" dirty="0"/>
              <a:t> Các danh mục như </a:t>
            </a:r>
            <a:r>
              <a:rPr lang="vi-VN" sz="1600" b="1" dirty="0"/>
              <a:t>Bottles, Android, Waze</a:t>
            </a:r>
            <a:r>
              <a:rPr lang="vi-VN" sz="1600" dirty="0"/>
              <a:t> có doanh thu và số lượng bán ra rất thấp, cần xem xét lại chiến lược hoặc khả năng loại bỏ. </a:t>
            </a:r>
            <a:r>
              <a:rPr lang="vi-VN" sz="1600" b="1" dirty="0"/>
              <a:t>More Bags</a:t>
            </a:r>
            <a:r>
              <a:rPr lang="vi-VN" sz="1600" dirty="0"/>
              <a:t> có giá trị TB giao dịch khá cao (73.67 USD) nhưng doanh thu thấp, có thể tập trung đẩy mạnh để tăng trưởng.</a:t>
            </a:r>
            <a:br>
              <a:rPr lang="vi-VN" sz="1600" dirty="0"/>
            </a:br>
            <a:endParaRPr lang="en-US" sz="1600" dirty="0"/>
          </a:p>
        </p:txBody>
      </p:sp>
      <p:pic>
        <p:nvPicPr>
          <p:cNvPr id="14" name="Content Placeholder 13">
            <a:extLst>
              <a:ext uri="{FF2B5EF4-FFF2-40B4-BE49-F238E27FC236}">
                <a16:creationId xmlns:a16="http://schemas.microsoft.com/office/drawing/2014/main" id="{E2980CA3-E4D4-45AD-8EB6-74D0BBD3B916}"/>
              </a:ext>
            </a:extLst>
          </p:cNvPr>
          <p:cNvPicPr>
            <a:picLocks noGrp="1" noChangeAspect="1"/>
          </p:cNvPicPr>
          <p:nvPr>
            <p:ph sz="quarter" idx="13"/>
          </p:nvPr>
        </p:nvPicPr>
        <p:blipFill>
          <a:blip r:embed="rId3"/>
          <a:stretch>
            <a:fillRect/>
          </a:stretch>
        </p:blipFill>
        <p:spPr>
          <a:xfrm>
            <a:off x="6848474" y="914400"/>
            <a:ext cx="5140325" cy="5029200"/>
          </a:xfrm>
        </p:spPr>
      </p:pic>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5</a:t>
            </a:fld>
            <a:endParaRPr lang="en-US" dirty="0"/>
          </a:p>
        </p:txBody>
      </p:sp>
      <p:sp>
        <p:nvSpPr>
          <p:cNvPr id="16" name="TextBox 15">
            <a:extLst>
              <a:ext uri="{FF2B5EF4-FFF2-40B4-BE49-F238E27FC236}">
                <a16:creationId xmlns:a16="http://schemas.microsoft.com/office/drawing/2014/main" id="{757E2D54-44BB-4066-8FC0-E045BBFA8F9A}"/>
              </a:ext>
            </a:extLst>
          </p:cNvPr>
          <p:cNvSpPr txBox="1"/>
          <p:nvPr/>
        </p:nvSpPr>
        <p:spPr>
          <a:xfrm>
            <a:off x="914400" y="234146"/>
            <a:ext cx="6096000" cy="477054"/>
          </a:xfrm>
          <a:prstGeom prst="rect">
            <a:avLst/>
          </a:prstGeom>
          <a:noFill/>
        </p:spPr>
        <p:txBody>
          <a:bodyPr wrap="square" rtlCol="0">
            <a:spAutoFit/>
          </a:bodyPr>
          <a:lstStyle/>
          <a:p>
            <a:r>
              <a:rPr lang="en-US" sz="2500" dirty="0">
                <a:latin typeface="Sagona Book (Headings)"/>
              </a:rPr>
              <a:t>TÌNH HÌNH KINH DOANH</a:t>
            </a:r>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D35D-B354-4346-B1E3-BF09DEEF3FFF}"/>
              </a:ext>
            </a:extLst>
          </p:cNvPr>
          <p:cNvSpPr>
            <a:spLocks noGrp="1"/>
          </p:cNvSpPr>
          <p:nvPr>
            <p:ph type="ctrTitle"/>
          </p:nvPr>
        </p:nvSpPr>
        <p:spPr/>
        <p:txBody>
          <a:bodyPr/>
          <a:lstStyle/>
          <a:p>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br>
              <a:rPr lang="en-US" sz="1600" b="1" dirty="0"/>
            </a:br>
            <a:r>
              <a:rPr lang="vi-VN" sz="1600" b="1" dirty="0"/>
              <a:t>Bảng "Số lượng mã giảm giá" cho thấy:</a:t>
            </a:r>
            <a:br>
              <a:rPr lang="vi-VN" sz="1600" b="1" dirty="0"/>
            </a:br>
            <a:br>
              <a:rPr lang="vi-VN" sz="1600" b="1" dirty="0"/>
            </a:br>
            <a:r>
              <a:rPr lang="vi-VN" sz="1600" dirty="0"/>
              <a:t>Tất cả 17 danh mục sản phẩm (</a:t>
            </a:r>
            <a:r>
              <a:rPr lang="vi-VN" sz="1600" b="1" dirty="0"/>
              <a:t>Product Category</a:t>
            </a:r>
            <a:r>
              <a:rPr lang="vi-VN" sz="1600" dirty="0"/>
              <a:t>) đều được áp dụng cùng một số lượng mã giảm giá, với 4 mã cho mỗi mức chiết khấu </a:t>
            </a:r>
            <a:r>
              <a:rPr lang="vi-VN" sz="1600" b="1" dirty="0"/>
              <a:t>(10%, 20%, 30%).</a:t>
            </a:r>
            <a:br>
              <a:rPr lang="vi-VN" sz="1600" dirty="0"/>
            </a:br>
            <a:br>
              <a:rPr lang="vi-VN" sz="1600" dirty="0"/>
            </a:br>
            <a:r>
              <a:rPr lang="vi-VN" sz="1600" dirty="0"/>
              <a:t>Nhận định: Chiến lược giảm giá đang được áp dụng một cách đồng đều (</a:t>
            </a:r>
            <a:r>
              <a:rPr lang="vi-VN" sz="1600" b="1" dirty="0"/>
              <a:t>non-differentiated</a:t>
            </a:r>
            <a:r>
              <a:rPr lang="vi-VN" sz="1600" dirty="0"/>
              <a:t>) cho tất cả các danh mục, không có sự ưu tiên hay phân biệt giữa sản phẩm chủ lực (như </a:t>
            </a:r>
            <a:r>
              <a:rPr lang="vi-VN" sz="1600" b="1" dirty="0"/>
              <a:t>Nest</a:t>
            </a:r>
            <a:r>
              <a:rPr lang="vi-VN" sz="1600" dirty="0"/>
              <a:t>) và sản phẩm yếu hơn (như </a:t>
            </a:r>
            <a:r>
              <a:rPr lang="vi-VN" sz="1600" b="1" dirty="0"/>
              <a:t>Android, Waze</a:t>
            </a:r>
            <a:r>
              <a:rPr lang="vi-VN" sz="1600" dirty="0"/>
              <a:t>).</a:t>
            </a: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br>
              <a:rPr lang="en-US" sz="1600" dirty="0"/>
            </a:br>
            <a:endParaRPr lang="en-US" sz="1600" dirty="0"/>
          </a:p>
        </p:txBody>
      </p:sp>
      <p:pic>
        <p:nvPicPr>
          <p:cNvPr id="5" name="Content Placeholder 4">
            <a:extLst>
              <a:ext uri="{FF2B5EF4-FFF2-40B4-BE49-F238E27FC236}">
                <a16:creationId xmlns:a16="http://schemas.microsoft.com/office/drawing/2014/main" id="{CC501825-8378-43D1-B080-F746758285E2}"/>
              </a:ext>
            </a:extLst>
          </p:cNvPr>
          <p:cNvPicPr>
            <a:picLocks noGrp="1" noChangeAspect="1"/>
          </p:cNvPicPr>
          <p:nvPr>
            <p:ph sz="quarter" idx="13"/>
          </p:nvPr>
        </p:nvPicPr>
        <p:blipFill>
          <a:blip r:embed="rId3"/>
          <a:stretch>
            <a:fillRect/>
          </a:stretch>
        </p:blipFill>
        <p:spPr>
          <a:xfrm>
            <a:off x="6708980" y="914399"/>
            <a:ext cx="5483019" cy="5029200"/>
          </a:xfrm>
        </p:spPr>
      </p:pic>
      <p:sp>
        <p:nvSpPr>
          <p:cNvPr id="16" name="TextBox 15">
            <a:extLst>
              <a:ext uri="{FF2B5EF4-FFF2-40B4-BE49-F238E27FC236}">
                <a16:creationId xmlns:a16="http://schemas.microsoft.com/office/drawing/2014/main" id="{FDE56E06-8850-4BCA-93FA-61F94CE686DF}"/>
              </a:ext>
            </a:extLst>
          </p:cNvPr>
          <p:cNvSpPr txBox="1"/>
          <p:nvPr/>
        </p:nvSpPr>
        <p:spPr>
          <a:xfrm>
            <a:off x="914400" y="234146"/>
            <a:ext cx="6096000" cy="477054"/>
          </a:xfrm>
          <a:prstGeom prst="rect">
            <a:avLst/>
          </a:prstGeom>
          <a:noFill/>
        </p:spPr>
        <p:txBody>
          <a:bodyPr wrap="square" rtlCol="0">
            <a:spAutoFit/>
          </a:bodyPr>
          <a:lstStyle/>
          <a:p>
            <a:r>
              <a:rPr lang="en-US" sz="2500" dirty="0">
                <a:latin typeface="Sagona Book (Headings)"/>
              </a:rPr>
              <a:t>CÁC KHOẢN CHI CỦA CÔNG TY</a:t>
            </a:r>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87D25D90-CDCB-4053-BCCF-2707DA6F4C89}"/>
              </a:ext>
            </a:extLst>
          </p:cNvPr>
          <p:cNvPicPr>
            <a:picLocks noGrp="1" noChangeAspect="1"/>
          </p:cNvPicPr>
          <p:nvPr>
            <p:ph sz="quarter" idx="13"/>
          </p:nvPr>
        </p:nvPicPr>
        <p:blipFill>
          <a:blip r:embed="rId3"/>
          <a:stretch>
            <a:fillRect/>
          </a:stretch>
        </p:blipFill>
        <p:spPr>
          <a:xfrm>
            <a:off x="7390312" y="914401"/>
            <a:ext cx="4534458" cy="2514600"/>
          </a:xfrm>
        </p:spPr>
      </p:pic>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7</a:t>
            </a:fld>
            <a:endParaRPr lang="en-US" dirty="0"/>
          </a:p>
        </p:txBody>
      </p:sp>
      <p:pic>
        <p:nvPicPr>
          <p:cNvPr id="19" name="Picture 18">
            <a:extLst>
              <a:ext uri="{FF2B5EF4-FFF2-40B4-BE49-F238E27FC236}">
                <a16:creationId xmlns:a16="http://schemas.microsoft.com/office/drawing/2014/main" id="{B3E4E89E-57F6-4F88-AE80-C8116AF9B3B9}"/>
              </a:ext>
            </a:extLst>
          </p:cNvPr>
          <p:cNvPicPr>
            <a:picLocks noChangeAspect="1"/>
          </p:cNvPicPr>
          <p:nvPr/>
        </p:nvPicPr>
        <p:blipFill>
          <a:blip r:embed="rId4"/>
          <a:stretch>
            <a:fillRect/>
          </a:stretch>
        </p:blipFill>
        <p:spPr>
          <a:xfrm>
            <a:off x="7390312" y="3429000"/>
            <a:ext cx="4534458" cy="2514599"/>
          </a:xfrm>
          <a:prstGeom prst="rect">
            <a:avLst/>
          </a:prstGeom>
        </p:spPr>
      </p:pic>
      <p:sp>
        <p:nvSpPr>
          <p:cNvPr id="20" name="Rectangle 1">
            <a:extLst>
              <a:ext uri="{FF2B5EF4-FFF2-40B4-BE49-F238E27FC236}">
                <a16:creationId xmlns:a16="http://schemas.microsoft.com/office/drawing/2014/main" id="{33326658-4D08-4791-9685-6F3804B5106F}"/>
              </a:ext>
            </a:extLst>
          </p:cNvPr>
          <p:cNvSpPr>
            <a:spLocks noGrp="1" noChangeArrowheads="1"/>
          </p:cNvSpPr>
          <p:nvPr>
            <p:ph type="ctrTitle"/>
          </p:nvPr>
        </p:nvSpPr>
        <p:spPr bwMode="auto">
          <a:xfrm>
            <a:off x="914400" y="1782398"/>
            <a:ext cx="6358467"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Sagona Book (Headings)"/>
              </a:rPr>
              <a:t>Tổng</a:t>
            </a:r>
            <a:r>
              <a:rPr kumimoji="0" lang="en-US" altLang="en-US" sz="1600" b="1" i="0" u="none" strike="noStrike" cap="none" normalizeH="0" baseline="0" dirty="0">
                <a:ln>
                  <a:noFill/>
                </a:ln>
                <a:solidFill>
                  <a:schemeClr val="tx1"/>
                </a:solidFill>
                <a:effectLst/>
                <a:latin typeface="Sagona Book (Headings)"/>
              </a:rPr>
              <a:t> </a:t>
            </a:r>
            <a:r>
              <a:rPr kumimoji="0" lang="en-US" altLang="en-US" sz="1600" b="1" i="0" u="none" strike="noStrike" cap="none" normalizeH="0" baseline="0" dirty="0" err="1">
                <a:ln>
                  <a:noFill/>
                </a:ln>
                <a:solidFill>
                  <a:schemeClr val="tx1"/>
                </a:solidFill>
                <a:effectLst/>
                <a:latin typeface="Sagona Book (Headings)"/>
              </a:rPr>
              <a:t>Doanh</a:t>
            </a:r>
            <a:r>
              <a:rPr kumimoji="0" lang="en-US" altLang="en-US" sz="1600" b="1" i="0" u="none" strike="noStrike" cap="none" normalizeH="0" baseline="0" dirty="0">
                <a:ln>
                  <a:noFill/>
                </a:ln>
                <a:solidFill>
                  <a:schemeClr val="tx1"/>
                </a:solidFill>
                <a:effectLst/>
                <a:latin typeface="Sagona Book (Headings)"/>
              </a:rPr>
              <a:t> Thu (</a:t>
            </a:r>
            <a:r>
              <a:rPr kumimoji="0" lang="en-US" altLang="en-US" sz="1600" b="1" i="0" u="none" strike="noStrike" cap="none" normalizeH="0" baseline="0" dirty="0" err="1">
                <a:ln>
                  <a:noFill/>
                </a:ln>
                <a:solidFill>
                  <a:schemeClr val="tx1"/>
                </a:solidFill>
                <a:effectLst/>
                <a:latin typeface="Sagona Book (Headings)"/>
              </a:rPr>
              <a:t>từ</a:t>
            </a:r>
            <a:r>
              <a:rPr kumimoji="0" lang="en-US" altLang="en-US" sz="1600" b="1" i="0" u="none" strike="noStrike" cap="none" normalizeH="0" baseline="0" dirty="0">
                <a:ln>
                  <a:noFill/>
                </a:ln>
                <a:solidFill>
                  <a:schemeClr val="tx1"/>
                </a:solidFill>
                <a:effectLst/>
                <a:latin typeface="Sagona Book (Headings)"/>
              </a:rPr>
              <a:t> slide 5):</a:t>
            </a:r>
            <a:r>
              <a:rPr kumimoji="0" lang="en-US" altLang="en-US" sz="1600" b="0" i="0" u="none" strike="noStrike" cap="none" normalizeH="0" baseline="0" dirty="0">
                <a:ln>
                  <a:noFill/>
                </a:ln>
                <a:solidFill>
                  <a:schemeClr val="tx1"/>
                </a:solidFill>
                <a:effectLst/>
                <a:latin typeface="Sagona Book (Headings)"/>
              </a:rPr>
              <a:t> 4,670,794.62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Sagona Book (Headings)"/>
              </a:rPr>
              <a:t>Tổng</a:t>
            </a:r>
            <a:r>
              <a:rPr kumimoji="0" lang="en-US" altLang="en-US" sz="1600" b="1" i="0" u="none" strike="noStrike" cap="none" normalizeH="0" baseline="0" dirty="0">
                <a:ln>
                  <a:noFill/>
                </a:ln>
                <a:solidFill>
                  <a:schemeClr val="tx1"/>
                </a:solidFill>
                <a:effectLst/>
                <a:latin typeface="Sagona Book (Headings)"/>
              </a:rPr>
              <a:t> Chi </a:t>
            </a:r>
            <a:r>
              <a:rPr kumimoji="0" lang="en-US" altLang="en-US" sz="1600" b="1" i="0" u="none" strike="noStrike" cap="none" normalizeH="0" baseline="0" dirty="0" err="1">
                <a:ln>
                  <a:noFill/>
                </a:ln>
                <a:solidFill>
                  <a:schemeClr val="tx1"/>
                </a:solidFill>
                <a:effectLst/>
                <a:latin typeface="Sagona Book (Headings)"/>
              </a:rPr>
              <a:t>phí</a:t>
            </a:r>
            <a:r>
              <a:rPr kumimoji="0" lang="en-US" altLang="en-US" sz="1600" b="1" i="0" u="none" strike="noStrike" cap="none" normalizeH="0" baseline="0" dirty="0">
                <a:ln>
                  <a:noFill/>
                </a:ln>
                <a:solidFill>
                  <a:schemeClr val="tx1"/>
                </a:solidFill>
                <a:effectLst/>
                <a:latin typeface="Sagona Book (Headings)"/>
              </a:rPr>
              <a:t> Marketing (</a:t>
            </a:r>
            <a:r>
              <a:rPr kumimoji="0" lang="en-US" altLang="en-US" sz="1600" b="1" i="0" u="none" strike="noStrike" cap="none" normalizeH="0" baseline="0" dirty="0" err="1">
                <a:ln>
                  <a:noFill/>
                </a:ln>
                <a:solidFill>
                  <a:schemeClr val="tx1"/>
                </a:solidFill>
                <a:effectLst/>
                <a:latin typeface="Sagona Book (Headings)"/>
              </a:rPr>
              <a:t>từ</a:t>
            </a:r>
            <a:r>
              <a:rPr kumimoji="0" lang="en-US" altLang="en-US" sz="1600" b="1" i="0" u="none" strike="noStrike" cap="none" normalizeH="0" baseline="0" dirty="0">
                <a:ln>
                  <a:noFill/>
                </a:ln>
                <a:solidFill>
                  <a:schemeClr val="tx1"/>
                </a:solidFill>
                <a:effectLst/>
                <a:latin typeface="Sagona Book (Headings)"/>
              </a:rPr>
              <a:t> 2 </a:t>
            </a:r>
            <a:r>
              <a:rPr kumimoji="0" lang="en-US" altLang="en-US" sz="1600" b="1" i="0" u="none" strike="noStrike" cap="none" normalizeH="0" baseline="0" dirty="0" err="1">
                <a:ln>
                  <a:noFill/>
                </a:ln>
                <a:solidFill>
                  <a:schemeClr val="tx1"/>
                </a:solidFill>
                <a:effectLst/>
                <a:latin typeface="Sagona Book (Headings)"/>
              </a:rPr>
              <a:t>bảng</a:t>
            </a:r>
            <a:r>
              <a:rPr kumimoji="0" lang="en-US" altLang="en-US" sz="1600" b="1" i="0" u="none" strike="noStrike" cap="none" normalizeH="0" baseline="0" dirty="0">
                <a:ln>
                  <a:noFill/>
                </a:ln>
                <a:solidFill>
                  <a:schemeClr val="tx1"/>
                </a:solidFill>
                <a:effectLst/>
                <a:latin typeface="Sagona Book (Headings)"/>
              </a:rPr>
              <a:t> ):</a:t>
            </a:r>
            <a:r>
              <a:rPr kumimoji="0" lang="en-US" altLang="en-US" sz="1600" b="0" i="0" u="none" strike="noStrike" cap="none" normalizeH="0" baseline="0" dirty="0">
                <a:ln>
                  <a:noFill/>
                </a:ln>
                <a:solidFill>
                  <a:schemeClr val="tx1"/>
                </a:solidFill>
                <a:effectLst/>
                <a:latin typeface="Sagona Book (Headings)"/>
              </a:rPr>
              <a:t> 1,733,550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Sagona Book (Headings)"/>
              </a:rPr>
              <a:t>Tỷ</a:t>
            </a:r>
            <a:r>
              <a:rPr kumimoji="0" lang="en-US" altLang="en-US" sz="1600" b="1" i="0" u="none" strike="noStrike" cap="none" normalizeH="0" baseline="0" dirty="0">
                <a:ln>
                  <a:noFill/>
                </a:ln>
                <a:solidFill>
                  <a:schemeClr val="tx1"/>
                </a:solidFill>
                <a:effectLst/>
                <a:latin typeface="Sagona Book (Headings)"/>
              </a:rPr>
              <a:t> </a:t>
            </a:r>
            <a:r>
              <a:rPr kumimoji="0" lang="en-US" altLang="en-US" sz="1600" b="1" i="0" u="none" strike="noStrike" cap="none" normalizeH="0" baseline="0" dirty="0" err="1">
                <a:ln>
                  <a:noFill/>
                </a:ln>
                <a:solidFill>
                  <a:schemeClr val="tx1"/>
                </a:solidFill>
                <a:effectLst/>
                <a:latin typeface="Sagona Book (Headings)"/>
              </a:rPr>
              <a:t>lệ</a:t>
            </a:r>
            <a:r>
              <a:rPr kumimoji="0" lang="en-US" altLang="en-US" sz="1600" b="1" i="0" u="none" strike="noStrike" cap="none" normalizeH="0" baseline="0" dirty="0">
                <a:ln>
                  <a:noFill/>
                </a:ln>
                <a:solidFill>
                  <a:schemeClr val="tx1"/>
                </a:solidFill>
                <a:effectLst/>
                <a:latin typeface="Sagona Book (Headings)"/>
              </a:rPr>
              <a:t> Chi </a:t>
            </a:r>
            <a:r>
              <a:rPr kumimoji="0" lang="en-US" altLang="en-US" sz="1600" b="1" i="0" u="none" strike="noStrike" cap="none" normalizeH="0" baseline="0" dirty="0" err="1">
                <a:ln>
                  <a:noFill/>
                </a:ln>
                <a:solidFill>
                  <a:schemeClr val="tx1"/>
                </a:solidFill>
                <a:effectLst/>
                <a:latin typeface="Sagona Book (Headings)"/>
              </a:rPr>
              <a:t>phí</a:t>
            </a:r>
            <a:r>
              <a:rPr kumimoji="0" lang="en-US" altLang="en-US" sz="1600" b="1" i="0" u="none" strike="noStrike" cap="none" normalizeH="0" baseline="0" dirty="0">
                <a:ln>
                  <a:noFill/>
                </a:ln>
                <a:solidFill>
                  <a:schemeClr val="tx1"/>
                </a:solidFill>
                <a:effectLst/>
                <a:latin typeface="Sagona Book (Headings)"/>
              </a:rPr>
              <a:t> Marketing </a:t>
            </a:r>
            <a:r>
              <a:rPr kumimoji="0" lang="en-US" altLang="en-US" sz="1600" b="1" i="0" u="none" strike="noStrike" cap="none" normalizeH="0" baseline="0" dirty="0" err="1">
                <a:ln>
                  <a:noFill/>
                </a:ln>
                <a:solidFill>
                  <a:schemeClr val="tx1"/>
                </a:solidFill>
                <a:effectLst/>
                <a:latin typeface="Sagona Book (Headings)"/>
              </a:rPr>
              <a:t>trên</a:t>
            </a:r>
            <a:r>
              <a:rPr kumimoji="0" lang="en-US" altLang="en-US" sz="1600" b="1" i="0" u="none" strike="noStrike" cap="none" normalizeH="0" baseline="0" dirty="0">
                <a:ln>
                  <a:noFill/>
                </a:ln>
                <a:solidFill>
                  <a:schemeClr val="tx1"/>
                </a:solidFill>
                <a:effectLst/>
                <a:latin typeface="Sagona Book (Headings)"/>
              </a:rPr>
              <a:t> </a:t>
            </a:r>
            <a:r>
              <a:rPr kumimoji="0" lang="en-US" altLang="en-US" sz="1600" b="1" i="0" u="none" strike="noStrike" cap="none" normalizeH="0" baseline="0" dirty="0" err="1">
                <a:ln>
                  <a:noFill/>
                </a:ln>
                <a:solidFill>
                  <a:schemeClr val="tx1"/>
                </a:solidFill>
                <a:effectLst/>
                <a:latin typeface="Sagona Book (Headings)"/>
              </a:rPr>
              <a:t>Doanh</a:t>
            </a:r>
            <a:r>
              <a:rPr kumimoji="0" lang="en-US" altLang="en-US" sz="1600" b="1" i="0" u="none" strike="noStrike" cap="none" normalizeH="0" baseline="0" dirty="0">
                <a:ln>
                  <a:noFill/>
                </a:ln>
                <a:solidFill>
                  <a:schemeClr val="tx1"/>
                </a:solidFill>
                <a:effectLst/>
                <a:latin typeface="Sagona Book (Headings)"/>
              </a:rPr>
              <a:t> </a:t>
            </a:r>
            <a:r>
              <a:rPr kumimoji="0" lang="en-US" altLang="en-US" sz="1600" b="1" i="0" u="none" strike="noStrike" cap="none" normalizeH="0" baseline="0" dirty="0" err="1">
                <a:ln>
                  <a:noFill/>
                </a:ln>
                <a:solidFill>
                  <a:schemeClr val="tx1"/>
                </a:solidFill>
                <a:effectLst/>
                <a:latin typeface="Sagona Book (Headings)"/>
              </a:rPr>
              <a:t>thu</a:t>
            </a:r>
            <a:r>
              <a:rPr kumimoji="0" lang="en-US" altLang="en-US" sz="1600" b="1" i="0" u="none" strike="noStrike" cap="none" normalizeH="0" baseline="0" dirty="0">
                <a:ln>
                  <a:noFill/>
                </a:ln>
                <a:solidFill>
                  <a:schemeClr val="tx1"/>
                </a:solidFill>
                <a:effectLst/>
                <a:latin typeface="Sagona Book (Headings)"/>
              </a:rPr>
              <a:t> (M:S Ratio): 37,11%</a:t>
            </a:r>
            <a:br>
              <a:rPr kumimoji="0" lang="en-US" altLang="en-US" sz="1600" b="1" i="0" u="none" strike="noStrike" cap="none" normalizeH="0" baseline="0" dirty="0">
                <a:ln>
                  <a:noFill/>
                </a:ln>
                <a:solidFill>
                  <a:schemeClr val="tx1"/>
                </a:solidFill>
                <a:effectLst/>
                <a:latin typeface="Sagona Book (Headings)"/>
              </a:rPr>
            </a:br>
            <a:r>
              <a:rPr kumimoji="0" lang="vi-VN" altLang="en-US" sz="1600" b="1" i="0" u="none" strike="noStrike" cap="none" normalizeH="0" baseline="0" dirty="0">
                <a:ln>
                  <a:noFill/>
                </a:ln>
                <a:solidFill>
                  <a:schemeClr val="tx1"/>
                </a:solidFill>
                <a:effectLst/>
                <a:latin typeface="Sagona Book (Headings)"/>
              </a:rPr>
              <a:t>Nhận định:</a:t>
            </a:r>
            <a:br>
              <a:rPr kumimoji="0" lang="en-US" altLang="en-US" sz="1600" b="1" i="0" u="none" strike="noStrike" cap="none" normalizeH="0" baseline="0" dirty="0">
                <a:ln>
                  <a:noFill/>
                </a:ln>
                <a:solidFill>
                  <a:schemeClr val="tx1"/>
                </a:solidFill>
                <a:effectLst/>
                <a:latin typeface="Sagona Book (Headings)"/>
              </a:rPr>
            </a:br>
            <a:r>
              <a:rPr kumimoji="0" lang="en-US" altLang="en-US" sz="1600" b="1" i="0" u="none" strike="noStrike" cap="none" normalizeH="0" baseline="0" dirty="0">
                <a:ln>
                  <a:noFill/>
                </a:ln>
                <a:solidFill>
                  <a:schemeClr val="tx1"/>
                </a:solidFill>
                <a:effectLst/>
                <a:latin typeface="Sagona Book (Headings)"/>
              </a:rPr>
              <a:t>	</a:t>
            </a:r>
            <a:r>
              <a:rPr kumimoji="0" lang="en-US" altLang="en-US" sz="1600" i="0" u="none" strike="noStrike" cap="none" normalizeH="0" baseline="0" dirty="0">
                <a:ln>
                  <a:noFill/>
                </a:ln>
                <a:solidFill>
                  <a:schemeClr val="tx1"/>
                </a:solidFill>
                <a:effectLst/>
                <a:latin typeface="Sagona Book (Headings)"/>
              </a:rPr>
              <a:t>-</a:t>
            </a:r>
            <a:r>
              <a:rPr kumimoji="0" lang="en-US" altLang="en-US" sz="1600" b="1" i="0" u="none" strike="noStrike" cap="none" normalizeH="0" baseline="0" dirty="0">
                <a:ln>
                  <a:noFill/>
                </a:ln>
                <a:solidFill>
                  <a:schemeClr val="tx1"/>
                </a:solidFill>
                <a:effectLst/>
                <a:latin typeface="Sagona Book (Headings)"/>
              </a:rPr>
              <a:t> </a:t>
            </a:r>
            <a:r>
              <a:rPr kumimoji="0" lang="vi-VN" altLang="en-US" sz="1600" i="0" u="none" strike="noStrike" cap="none" normalizeH="0" baseline="0" dirty="0">
                <a:ln>
                  <a:noFill/>
                </a:ln>
                <a:solidFill>
                  <a:schemeClr val="tx1"/>
                </a:solidFill>
                <a:effectLst/>
                <a:latin typeface="Sagona Book (Headings)"/>
              </a:rPr>
              <a:t>Công ty đang chi tiêu nhiều hơn cho Marketing Offline (1.03 triệu USD, chiếm 60%). </a:t>
            </a:r>
            <a:br>
              <a:rPr kumimoji="0" lang="en-US" altLang="en-US" sz="1600" i="0" u="none" strike="noStrike" cap="none" normalizeH="0" baseline="0" dirty="0">
                <a:ln>
                  <a:noFill/>
                </a:ln>
                <a:solidFill>
                  <a:schemeClr val="tx1"/>
                </a:solidFill>
                <a:effectLst/>
                <a:latin typeface="Sagona Book (Headings)"/>
              </a:rPr>
            </a:br>
            <a:r>
              <a:rPr kumimoji="0" lang="en-US" altLang="en-US" sz="1600" i="0" u="none" strike="noStrike" cap="none" normalizeH="0" baseline="0" dirty="0">
                <a:ln>
                  <a:noFill/>
                </a:ln>
                <a:solidFill>
                  <a:schemeClr val="tx1"/>
                </a:solidFill>
                <a:effectLst/>
                <a:latin typeface="Sagona Book (Headings)"/>
              </a:rPr>
              <a:t>	=&gt; </a:t>
            </a:r>
            <a:r>
              <a:rPr kumimoji="0" lang="vi-VN" altLang="en-US" sz="1600" i="0" u="none" strike="noStrike" cap="none" normalizeH="0" baseline="0" dirty="0">
                <a:ln>
                  <a:noFill/>
                </a:ln>
                <a:solidFill>
                  <a:schemeClr val="tx1"/>
                </a:solidFill>
                <a:effectLst/>
                <a:latin typeface="Sagona Book (Headings)"/>
              </a:rPr>
              <a:t>Điều này có thể giải thích lý do tại sao các thị trường vật lý như </a:t>
            </a:r>
            <a:r>
              <a:rPr kumimoji="0" lang="vi-VN" altLang="en-US" sz="1600" b="1" i="0" u="none" strike="noStrike" cap="none" normalizeH="0" baseline="0" dirty="0">
                <a:ln>
                  <a:noFill/>
                </a:ln>
                <a:solidFill>
                  <a:schemeClr val="tx1"/>
                </a:solidFill>
                <a:effectLst/>
                <a:latin typeface="Sagona Book (Headings)"/>
              </a:rPr>
              <a:t>Chicago</a:t>
            </a:r>
            <a:r>
              <a:rPr kumimoji="0" lang="vi-VN" altLang="en-US" sz="1600" i="0" u="none" strike="noStrike" cap="none" normalizeH="0" baseline="0" dirty="0">
                <a:ln>
                  <a:noFill/>
                </a:ln>
                <a:solidFill>
                  <a:schemeClr val="tx1"/>
                </a:solidFill>
                <a:effectLst/>
                <a:latin typeface="Sagona Book (Headings)"/>
              </a:rPr>
              <a:t> và </a:t>
            </a:r>
            <a:r>
              <a:rPr kumimoji="0" lang="vi-VN" altLang="en-US" sz="1600" b="1" i="0" u="none" strike="noStrike" cap="none" normalizeH="0" baseline="0" dirty="0">
                <a:ln>
                  <a:noFill/>
                </a:ln>
                <a:solidFill>
                  <a:schemeClr val="tx1"/>
                </a:solidFill>
                <a:effectLst/>
                <a:latin typeface="Sagona Book (Headings)"/>
              </a:rPr>
              <a:t>California</a:t>
            </a:r>
            <a:r>
              <a:rPr kumimoji="0" lang="vi-VN" altLang="en-US" sz="1600" i="0" u="none" strike="noStrike" cap="none" normalizeH="0" baseline="0" dirty="0">
                <a:ln>
                  <a:noFill/>
                </a:ln>
                <a:solidFill>
                  <a:schemeClr val="tx1"/>
                </a:solidFill>
                <a:effectLst/>
                <a:latin typeface="Sagona Book (Headings)"/>
              </a:rPr>
              <a:t> có doanh thu cao nhất.</a:t>
            </a:r>
            <a:br>
              <a:rPr kumimoji="0" lang="en-US" altLang="en-US" sz="1600" i="0" u="none" strike="noStrike" cap="none" normalizeH="0" baseline="0" dirty="0">
                <a:ln>
                  <a:noFill/>
                </a:ln>
                <a:solidFill>
                  <a:schemeClr val="tx1"/>
                </a:solidFill>
                <a:effectLst/>
                <a:latin typeface="Sagona Book (Headings)"/>
              </a:rPr>
            </a:br>
            <a:r>
              <a:rPr kumimoji="0" lang="en-US" altLang="en-US" sz="1600" i="0" u="none" strike="noStrike" cap="none" normalizeH="0" baseline="0" dirty="0">
                <a:ln>
                  <a:noFill/>
                </a:ln>
                <a:solidFill>
                  <a:schemeClr val="tx1"/>
                </a:solidFill>
                <a:effectLst/>
                <a:latin typeface="Sagona Book (Headings)"/>
              </a:rPr>
              <a:t>	- </a:t>
            </a:r>
            <a:r>
              <a:rPr kumimoji="0" lang="vi-VN" altLang="en-US" sz="1600" i="0" u="none" strike="noStrike" cap="none" normalizeH="0" baseline="0" dirty="0">
                <a:ln>
                  <a:noFill/>
                </a:ln>
                <a:solidFill>
                  <a:schemeClr val="tx1"/>
                </a:solidFill>
                <a:effectLst/>
                <a:latin typeface="Sagona Book (Headings)"/>
              </a:rPr>
              <a:t>Tỷ lệ chi phí Marketing trên Doanh thu là </a:t>
            </a:r>
            <a:r>
              <a:rPr kumimoji="0" lang="vi-VN" altLang="en-US" sz="1600" b="1" i="0" u="none" strike="noStrike" cap="none" normalizeH="0" baseline="0" dirty="0">
                <a:ln>
                  <a:noFill/>
                </a:ln>
                <a:solidFill>
                  <a:schemeClr val="tx1"/>
                </a:solidFill>
                <a:effectLst/>
                <a:latin typeface="Sagona Book (Headings)"/>
              </a:rPr>
              <a:t>37.11%</a:t>
            </a:r>
            <a:r>
              <a:rPr kumimoji="0" lang="vi-VN" altLang="en-US" sz="1600" i="0" u="none" strike="noStrike" cap="none" normalizeH="0" baseline="0" dirty="0">
                <a:ln>
                  <a:noFill/>
                </a:ln>
                <a:solidFill>
                  <a:schemeClr val="tx1"/>
                </a:solidFill>
                <a:effectLst/>
                <a:latin typeface="Sagona Book (Headings)"/>
              </a:rPr>
              <a:t> là một con số khá cao. </a:t>
            </a:r>
            <a:br>
              <a:rPr kumimoji="0" lang="en-US" altLang="en-US" sz="1600" i="0" u="none" strike="noStrike" cap="none" normalizeH="0" baseline="0" dirty="0">
                <a:ln>
                  <a:noFill/>
                </a:ln>
                <a:solidFill>
                  <a:schemeClr val="tx1"/>
                </a:solidFill>
                <a:effectLst/>
                <a:latin typeface="Sagona Book (Headings)"/>
              </a:rPr>
            </a:br>
            <a:r>
              <a:rPr kumimoji="0" lang="en-US" altLang="en-US" sz="1600" i="0" u="none" strike="noStrike" cap="none" normalizeH="0" baseline="0" dirty="0">
                <a:ln>
                  <a:noFill/>
                </a:ln>
                <a:solidFill>
                  <a:schemeClr val="tx1"/>
                </a:solidFill>
                <a:effectLst/>
                <a:latin typeface="Sagona Book (Headings)"/>
              </a:rPr>
              <a:t>	=&gt; </a:t>
            </a:r>
            <a:r>
              <a:rPr kumimoji="0" lang="vi-VN" altLang="en-US" sz="1600" i="0" u="none" strike="noStrike" cap="none" normalizeH="0" baseline="0" dirty="0">
                <a:ln>
                  <a:noFill/>
                </a:ln>
                <a:solidFill>
                  <a:schemeClr val="tx1"/>
                </a:solidFill>
                <a:effectLst/>
                <a:latin typeface="Sagona Book (Headings)"/>
              </a:rPr>
              <a:t>Điều này cho thấy hiệu quả chuyển đổi (ROI) của các chiến dịch marketing có thể chưa tối ưu, hoặc công ty đang trong giai đoạn đầu tư mạnh để giành thị phần.</a:t>
            </a:r>
            <a:endParaRPr kumimoji="0" lang="en-US" altLang="en-US" sz="1600" i="0" u="none" strike="noStrike" cap="none" normalizeH="0" baseline="0" dirty="0">
              <a:ln>
                <a:noFill/>
              </a:ln>
              <a:solidFill>
                <a:schemeClr val="tx1"/>
              </a:solidFill>
              <a:effectLst/>
              <a:latin typeface="Sagona Book (Headings)"/>
            </a:endParaRPr>
          </a:p>
        </p:txBody>
      </p:sp>
      <p:sp>
        <p:nvSpPr>
          <p:cNvPr id="25" name="TextBox 24">
            <a:extLst>
              <a:ext uri="{FF2B5EF4-FFF2-40B4-BE49-F238E27FC236}">
                <a16:creationId xmlns:a16="http://schemas.microsoft.com/office/drawing/2014/main" id="{CE3BDDE4-6820-458F-B5EA-2FB4C0546831}"/>
              </a:ext>
            </a:extLst>
          </p:cNvPr>
          <p:cNvSpPr txBox="1"/>
          <p:nvPr/>
        </p:nvSpPr>
        <p:spPr>
          <a:xfrm>
            <a:off x="914400" y="234146"/>
            <a:ext cx="6096000" cy="477054"/>
          </a:xfrm>
          <a:prstGeom prst="rect">
            <a:avLst/>
          </a:prstGeom>
          <a:noFill/>
        </p:spPr>
        <p:txBody>
          <a:bodyPr wrap="square" rtlCol="0">
            <a:spAutoFit/>
          </a:bodyPr>
          <a:lstStyle/>
          <a:p>
            <a:r>
              <a:rPr lang="en-US" sz="2500" dirty="0">
                <a:latin typeface="Sagona Book (Headings)"/>
              </a:rPr>
              <a:t>CÁC KHOẢN CHI CỦA CÔNG TY</a:t>
            </a:r>
          </a:p>
        </p:txBody>
      </p:sp>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GIẢI PHÁP</a:t>
            </a:r>
          </a:p>
        </p:txBody>
      </p:sp>
    </p:spTree>
    <p:extLst>
      <p:ext uri="{BB962C8B-B14F-4D97-AF65-F5344CB8AC3E}">
        <p14:creationId xmlns:p14="http://schemas.microsoft.com/office/powerpoint/2010/main" val="263633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9F14F0-5BFF-4CBF-9C8E-E3F3A8A48AA1}"/>
              </a:ext>
            </a:extLst>
          </p:cNvPr>
          <p:cNvSpPr>
            <a:spLocks noGrp="1"/>
          </p:cNvSpPr>
          <p:nvPr>
            <p:ph type="ctrTitle"/>
          </p:nvPr>
        </p:nvSpPr>
        <p:spPr/>
        <p:txBody>
          <a:bodyPr/>
          <a:lstStyle/>
          <a:p>
            <a:pPr algn="l"/>
            <a:r>
              <a:rPr lang="en-US" sz="1600" b="1" dirty="0"/>
              <a:t>1.</a:t>
            </a:r>
            <a:r>
              <a:rPr lang="vi-VN" sz="1600" b="1" dirty="0"/>
              <a:t> </a:t>
            </a:r>
            <a:r>
              <a:rPr lang="en-US" sz="1600" b="1" dirty="0"/>
              <a:t>T</a:t>
            </a:r>
            <a:r>
              <a:rPr lang="vi-VN" sz="1600" b="1" dirty="0"/>
              <a:t>ối ưu hóa Chi phí Marketing (Tỷ lệ 37.11%):</a:t>
            </a:r>
            <a:br>
              <a:rPr lang="en-US" sz="1600" b="1" dirty="0"/>
            </a:br>
            <a:r>
              <a:rPr lang="en-US" sz="1600" b="1" dirty="0"/>
              <a:t>	- </a:t>
            </a:r>
            <a:r>
              <a:rPr lang="vi-VN" sz="1600" b="1" dirty="0"/>
              <a:t>Thử nghiệm dịch chuyển chi phí</a:t>
            </a:r>
            <a:r>
              <a:rPr lang="vi-VN" sz="1600" dirty="0"/>
              <a:t>: Vì các thị trường lớn đang phát triển tốt, hãy thử chuyển một phần chi phí từ </a:t>
            </a:r>
            <a:r>
              <a:rPr lang="vi-VN" sz="1600" b="1" dirty="0"/>
              <a:t>Offline</a:t>
            </a:r>
            <a:r>
              <a:rPr lang="vi-VN" sz="1600" dirty="0"/>
              <a:t> sang </a:t>
            </a:r>
            <a:r>
              <a:rPr lang="vi-VN" sz="1600" b="1" dirty="0"/>
              <a:t>Online</a:t>
            </a:r>
            <a:r>
              <a:rPr lang="vi-VN" sz="1600" dirty="0"/>
              <a:t> (ví dụ: từ 60/40 thành 50/50 hoặc 45/55) để đo lường ROI. Mục tiêu là giảm tỷ lệ M:S xuống dưới 30% mà không ảnh hưởng đến doanh thu.</a:t>
            </a:r>
            <a:br>
              <a:rPr lang="en-US" sz="1600" dirty="0"/>
            </a:br>
            <a:br>
              <a:rPr lang="en-US" sz="1600" dirty="0"/>
            </a:br>
            <a:r>
              <a:rPr lang="en-US" sz="1600" dirty="0"/>
              <a:t>	 </a:t>
            </a:r>
            <a:r>
              <a:rPr lang="en-US" sz="1600" b="1" dirty="0"/>
              <a:t>- </a:t>
            </a:r>
            <a:r>
              <a:rPr lang="vi-VN" sz="1600" b="1" dirty="0"/>
              <a:t>Phân bổ chi phí theo khu vực</a:t>
            </a:r>
            <a:r>
              <a:rPr lang="vi-VN" sz="1600" dirty="0"/>
              <a:t>: Phân bổ chi phí Online tập trung hơn vào các thị trường tiềm năng nhưng doanh thu còn thấp như </a:t>
            </a:r>
            <a:r>
              <a:rPr lang="vi-VN" sz="1600" b="1" dirty="0"/>
              <a:t>New Jersey </a:t>
            </a:r>
            <a:r>
              <a:rPr lang="vi-VN" sz="1600" dirty="0"/>
              <a:t>và </a:t>
            </a:r>
            <a:r>
              <a:rPr lang="vi-VN" sz="1600" b="1" dirty="0"/>
              <a:t>Washington DC </a:t>
            </a:r>
            <a:r>
              <a:rPr lang="vi-VN" sz="1600" dirty="0"/>
              <a:t>để thúc đẩy tăng trưởng số lượng.</a:t>
            </a:r>
            <a:br>
              <a:rPr lang="en-US" sz="1600" dirty="0"/>
            </a:br>
            <a:br>
              <a:rPr lang="en-US" sz="1600" dirty="0"/>
            </a:br>
            <a:r>
              <a:rPr lang="en-US" sz="1600" b="1" dirty="0"/>
              <a:t>2. </a:t>
            </a:r>
            <a:r>
              <a:rPr lang="vi-VN" sz="1600" b="1" dirty="0"/>
              <a:t>Thiết lập Chiến lược Giảm giá Phân biệt:</a:t>
            </a:r>
            <a:br>
              <a:rPr lang="en-US" sz="1600" b="1" dirty="0"/>
            </a:br>
            <a:r>
              <a:rPr lang="en-US" sz="1600" b="1" dirty="0"/>
              <a:t>	- </a:t>
            </a:r>
            <a:r>
              <a:rPr lang="vi-VN" sz="1600" b="1" dirty="0"/>
              <a:t>Bảo vệ lợi nhuận</a:t>
            </a:r>
            <a:r>
              <a:rPr lang="vi-VN" sz="1600" dirty="0"/>
              <a:t>: Giảm số lượng mã giảm giá 30% cho các sản phẩm có Giá trị TB cao và bán chạy (</a:t>
            </a:r>
            <a:r>
              <a:rPr lang="vi-VN" sz="1600" b="1" dirty="0"/>
              <a:t>Nest, Nest-USA</a:t>
            </a:r>
            <a:r>
              <a:rPr lang="vi-VN" sz="1600" dirty="0"/>
              <a:t>). Thay vào đó, áp dụng giảm giá nhỏ hơn (10%) hoặc tạo các gói (bundle) sản phẩm để duy trì giá trị.</a:t>
            </a:r>
            <a:br>
              <a:rPr lang="en-US" sz="1600" dirty="0"/>
            </a:br>
            <a:br>
              <a:rPr lang="en-US" sz="1600" dirty="0"/>
            </a:br>
            <a:r>
              <a:rPr lang="en-US" sz="1600" dirty="0"/>
              <a:t>	</a:t>
            </a:r>
            <a:r>
              <a:rPr lang="en-US" sz="1600" b="1" dirty="0"/>
              <a:t>- </a:t>
            </a:r>
            <a:r>
              <a:rPr lang="vi-VN" sz="1600" b="1" dirty="0"/>
              <a:t>Kích cầu</a:t>
            </a:r>
            <a:r>
              <a:rPr lang="vi-VN" sz="1600" dirty="0"/>
              <a:t>: Tăng số lượng mã giảm giá 20% và 30% cho các danh mục có doanh thu thấp (</a:t>
            </a:r>
            <a:r>
              <a:rPr lang="vi-VN" sz="1600" b="1" dirty="0"/>
              <a:t>Android, Waze, Bottles</a:t>
            </a:r>
            <a:r>
              <a:rPr lang="vi-VN" sz="1600" dirty="0"/>
              <a:t>) để thúc đẩy việc bán hết hàng tồn kho.</a:t>
            </a:r>
            <a:br>
              <a:rPr lang="en-US" sz="1600" dirty="0"/>
            </a:br>
            <a:endParaRPr lang="en-US" sz="1600" dirty="0"/>
          </a:p>
        </p:txBody>
      </p:sp>
    </p:spTree>
    <p:extLst>
      <p:ext uri="{BB962C8B-B14F-4D97-AF65-F5344CB8AC3E}">
        <p14:creationId xmlns:p14="http://schemas.microsoft.com/office/powerpoint/2010/main" val="2376700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KẾT LUẬN</a:t>
            </a:r>
          </a:p>
        </p:txBody>
      </p:sp>
    </p:spTree>
    <p:extLst>
      <p:ext uri="{BB962C8B-B14F-4D97-AF65-F5344CB8AC3E}">
        <p14:creationId xmlns:p14="http://schemas.microsoft.com/office/powerpoint/2010/main" val="2852671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dirty="0"/>
              <a:t>ĐỐI VỚI KHÁCH HÀNG</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6708726" cy="3904488"/>
          </a:xfrm>
        </p:spPr>
        <p:txBody>
          <a:bodyPr/>
          <a:lstStyle/>
          <a:p>
            <a:r>
              <a:rPr lang="en-US" sz="1600" dirty="0">
                <a:latin typeface="Sagona Book (Headings)"/>
              </a:rPr>
              <a:t>	- </a:t>
            </a:r>
            <a:r>
              <a:rPr lang="en-US" sz="1800" dirty="0" err="1">
                <a:latin typeface="Sagona Book (Headings)"/>
              </a:rPr>
              <a:t>Có</a:t>
            </a:r>
            <a:r>
              <a:rPr lang="en-US" sz="1800" dirty="0">
                <a:latin typeface="Sagona Book (Headings)"/>
              </a:rPr>
              <a:t> </a:t>
            </a:r>
            <a:r>
              <a:rPr lang="en-US" sz="1800" dirty="0" err="1">
                <a:latin typeface="Sagona Book (Headings)"/>
              </a:rPr>
              <a:t>vẻ</a:t>
            </a:r>
            <a:r>
              <a:rPr lang="en-US" sz="1800" dirty="0">
                <a:latin typeface="Sagona Book (Headings)"/>
              </a:rPr>
              <a:t> do </a:t>
            </a:r>
            <a:r>
              <a:rPr lang="en-US" sz="1800" dirty="0" err="1">
                <a:latin typeface="Sagona Book (Headings)"/>
              </a:rPr>
              <a:t>chính</a:t>
            </a:r>
            <a:r>
              <a:rPr lang="en-US" sz="1800" dirty="0">
                <a:latin typeface="Sagona Book (Headings)"/>
              </a:rPr>
              <a:t> </a:t>
            </a:r>
            <a:r>
              <a:rPr lang="en-US" sz="1800" dirty="0" err="1">
                <a:latin typeface="Sagona Book (Headings)"/>
              </a:rPr>
              <a:t>sách</a:t>
            </a:r>
            <a:r>
              <a:rPr lang="en-US" sz="1800" dirty="0">
                <a:latin typeface="Sagona Book (Headings)"/>
              </a:rPr>
              <a:t> </a:t>
            </a:r>
            <a:r>
              <a:rPr lang="en-US" sz="1800" b="1" dirty="0">
                <a:latin typeface="Sagona Book (Headings)"/>
              </a:rPr>
              <a:t>Marketing off </a:t>
            </a:r>
            <a:r>
              <a:rPr lang="en-US" sz="1800" dirty="0" err="1">
                <a:latin typeface="Sagona Book (Headings)"/>
              </a:rPr>
              <a:t>của</a:t>
            </a:r>
            <a:r>
              <a:rPr lang="en-US" sz="1800" dirty="0">
                <a:latin typeface="Sagona Book (Headings)"/>
              </a:rPr>
              <a:t> </a:t>
            </a:r>
            <a:r>
              <a:rPr lang="en-US" sz="1800" dirty="0" err="1">
                <a:latin typeface="Sagona Book (Headings)"/>
              </a:rPr>
              <a:t>công</a:t>
            </a:r>
            <a:r>
              <a:rPr lang="en-US" sz="1800" dirty="0">
                <a:latin typeface="Sagona Book (Headings)"/>
              </a:rPr>
              <a:t> ty </a:t>
            </a:r>
            <a:r>
              <a:rPr lang="en-US" sz="1800" dirty="0" err="1">
                <a:latin typeface="Sagona Book (Headings)"/>
              </a:rPr>
              <a:t>nên</a:t>
            </a:r>
            <a:r>
              <a:rPr lang="en-US" sz="1800" dirty="0">
                <a:latin typeface="Sagona Book (Headings)"/>
              </a:rPr>
              <a:t> </a:t>
            </a:r>
            <a:r>
              <a:rPr lang="en-US" sz="1800" dirty="0" err="1">
                <a:latin typeface="Sagona Book (Headings)"/>
              </a:rPr>
              <a:t>làm</a:t>
            </a:r>
            <a:r>
              <a:rPr lang="en-US" sz="1800" dirty="0">
                <a:latin typeface="Sagona Book (Headings)"/>
              </a:rPr>
              <a:t> </a:t>
            </a:r>
            <a:r>
              <a:rPr lang="en-US" sz="1800" dirty="0" err="1">
                <a:latin typeface="Sagona Book (Headings)"/>
              </a:rPr>
              <a:t>cho</a:t>
            </a:r>
            <a:r>
              <a:rPr lang="en-US" sz="1800" dirty="0">
                <a:latin typeface="Sagona Book (Headings)"/>
              </a:rPr>
              <a:t> </a:t>
            </a:r>
            <a:r>
              <a:rPr lang="en-US" sz="1800" dirty="0" err="1">
                <a:latin typeface="Sagona Book (Headings)"/>
              </a:rPr>
              <a:t>lượng</a:t>
            </a:r>
            <a:r>
              <a:rPr lang="en-US" sz="1800" dirty="0">
                <a:latin typeface="Sagona Book (Headings)"/>
              </a:rPr>
              <a:t> </a:t>
            </a:r>
            <a:r>
              <a:rPr lang="en-US" sz="1800" dirty="0" err="1">
                <a:latin typeface="Sagona Book (Headings)"/>
              </a:rPr>
              <a:t>khách</a:t>
            </a:r>
            <a:r>
              <a:rPr lang="en-US" sz="1800" dirty="0">
                <a:latin typeface="Sagona Book (Headings)"/>
              </a:rPr>
              <a:t> </a:t>
            </a:r>
            <a:r>
              <a:rPr lang="en-US" sz="1800" dirty="0" err="1">
                <a:latin typeface="Sagona Book (Headings)"/>
              </a:rPr>
              <a:t>hàng</a:t>
            </a:r>
            <a:r>
              <a:rPr lang="en-US" sz="1800" dirty="0">
                <a:latin typeface="Sagona Book (Headings)"/>
              </a:rPr>
              <a:t> </a:t>
            </a:r>
            <a:r>
              <a:rPr lang="en-US" sz="1800" dirty="0" err="1">
                <a:latin typeface="Sagona Book (Headings)"/>
              </a:rPr>
              <a:t>của</a:t>
            </a:r>
            <a:r>
              <a:rPr lang="en-US" sz="1800" dirty="0">
                <a:latin typeface="Sagona Book (Headings)"/>
              </a:rPr>
              <a:t> </a:t>
            </a:r>
            <a:r>
              <a:rPr lang="en-US" sz="1800" dirty="0" err="1">
                <a:latin typeface="Sagona Book (Headings)"/>
              </a:rPr>
              <a:t>các</a:t>
            </a:r>
            <a:r>
              <a:rPr lang="en-US" sz="1800" dirty="0">
                <a:latin typeface="Sagona Book (Headings)"/>
              </a:rPr>
              <a:t> </a:t>
            </a:r>
            <a:r>
              <a:rPr lang="en-US" sz="1800" dirty="0" err="1">
                <a:latin typeface="Sagona Book (Headings)"/>
              </a:rPr>
              <a:t>khu</a:t>
            </a:r>
            <a:r>
              <a:rPr lang="en-US" sz="1800" dirty="0">
                <a:latin typeface="Sagona Book (Headings)"/>
              </a:rPr>
              <a:t> </a:t>
            </a:r>
            <a:r>
              <a:rPr lang="en-US" sz="1800" dirty="0" err="1">
                <a:latin typeface="Sagona Book (Headings)"/>
              </a:rPr>
              <a:t>vực</a:t>
            </a:r>
            <a:r>
              <a:rPr lang="en-US" sz="1800" dirty="0">
                <a:latin typeface="Sagona Book (Headings)"/>
              </a:rPr>
              <a:t> </a:t>
            </a:r>
            <a:r>
              <a:rPr lang="en-US" sz="1800" dirty="0" err="1">
                <a:latin typeface="Sagona Book (Headings)"/>
              </a:rPr>
              <a:t>trở</a:t>
            </a:r>
            <a:r>
              <a:rPr lang="en-US" sz="1800" dirty="0">
                <a:latin typeface="Sagona Book (Headings)"/>
              </a:rPr>
              <a:t> </a:t>
            </a:r>
            <a:r>
              <a:rPr lang="en-US" sz="1800" dirty="0" err="1">
                <a:latin typeface="Sagona Book (Headings)"/>
              </a:rPr>
              <a:t>nên</a:t>
            </a:r>
            <a:r>
              <a:rPr lang="en-US" sz="1800" dirty="0">
                <a:latin typeface="Sagona Book (Headings)"/>
              </a:rPr>
              <a:t> </a:t>
            </a:r>
            <a:r>
              <a:rPr lang="en-US" sz="1800" dirty="0" err="1">
                <a:latin typeface="Sagona Book (Headings)"/>
              </a:rPr>
              <a:t>khác</a:t>
            </a:r>
            <a:r>
              <a:rPr lang="en-US" sz="1800" dirty="0">
                <a:latin typeface="Sagona Book (Headings)"/>
              </a:rPr>
              <a:t> </a:t>
            </a:r>
            <a:r>
              <a:rPr lang="en-US" sz="1800" dirty="0" err="1">
                <a:latin typeface="Sagona Book (Headings)"/>
              </a:rPr>
              <a:t>nhau</a:t>
            </a:r>
            <a:r>
              <a:rPr lang="en-US" sz="1800" dirty="0">
                <a:latin typeface="Sagona Book (Headings)"/>
              </a:rPr>
              <a:t> </a:t>
            </a:r>
            <a:r>
              <a:rPr lang="en-US" sz="1800" dirty="0" err="1">
                <a:latin typeface="Sagona Book (Headings)"/>
              </a:rPr>
              <a:t>và</a:t>
            </a:r>
            <a:r>
              <a:rPr lang="en-US" sz="1800" dirty="0">
                <a:latin typeface="Sagona Book (Headings)"/>
              </a:rPr>
              <a:t> </a:t>
            </a:r>
            <a:r>
              <a:rPr lang="en-US" sz="1800" dirty="0" err="1">
                <a:latin typeface="Sagona Book (Headings)"/>
              </a:rPr>
              <a:t>chênh</a:t>
            </a:r>
            <a:r>
              <a:rPr lang="en-US" sz="1800" dirty="0">
                <a:latin typeface="Sagona Book (Headings)"/>
              </a:rPr>
              <a:t> </a:t>
            </a:r>
            <a:r>
              <a:rPr lang="en-US" sz="1800" dirty="0" err="1">
                <a:latin typeface="Sagona Book (Headings)"/>
              </a:rPr>
              <a:t>lệch</a:t>
            </a:r>
            <a:r>
              <a:rPr lang="en-US" sz="1800" dirty="0">
                <a:latin typeface="Sagona Book (Headings)"/>
              </a:rPr>
              <a:t> </a:t>
            </a:r>
            <a:r>
              <a:rPr lang="en-US" sz="1800" dirty="0" err="1">
                <a:latin typeface="Sagona Book (Headings)"/>
              </a:rPr>
              <a:t>khá</a:t>
            </a:r>
            <a:r>
              <a:rPr lang="en-US" sz="1800" dirty="0">
                <a:latin typeface="Sagona Book (Headings)"/>
              </a:rPr>
              <a:t> </a:t>
            </a:r>
            <a:r>
              <a:rPr lang="en-US" sz="1800" dirty="0" err="1">
                <a:latin typeface="Sagona Book (Headings)"/>
              </a:rPr>
              <a:t>nhiều</a:t>
            </a:r>
            <a:r>
              <a:rPr lang="en-US" sz="1800" dirty="0">
                <a:latin typeface="Sagona Book (Headings)"/>
              </a:rPr>
              <a:t>. </a:t>
            </a:r>
            <a:r>
              <a:rPr lang="en-US" sz="1800" dirty="0" err="1">
                <a:latin typeface="Sagona Book (Headings)"/>
              </a:rPr>
              <a:t>Làm</a:t>
            </a:r>
            <a:r>
              <a:rPr lang="en-US" sz="1800" dirty="0">
                <a:latin typeface="Sagona Book (Headings)"/>
              </a:rPr>
              <a:t> </a:t>
            </a:r>
            <a:r>
              <a:rPr lang="en-US" sz="1800" dirty="0" err="1">
                <a:latin typeface="Sagona Book (Headings)"/>
              </a:rPr>
              <a:t>ảnh</a:t>
            </a:r>
            <a:r>
              <a:rPr lang="en-US" sz="1800" dirty="0">
                <a:latin typeface="Sagona Book (Headings)"/>
              </a:rPr>
              <a:t> </a:t>
            </a:r>
            <a:r>
              <a:rPr lang="en-US" sz="1800" dirty="0" err="1">
                <a:latin typeface="Sagona Book (Headings)"/>
              </a:rPr>
              <a:t>hưởng</a:t>
            </a:r>
            <a:r>
              <a:rPr lang="en-US" sz="1800" dirty="0">
                <a:latin typeface="Sagona Book (Headings)"/>
              </a:rPr>
              <a:t> </a:t>
            </a:r>
            <a:r>
              <a:rPr lang="en-US" sz="1800" dirty="0" err="1">
                <a:latin typeface="Sagona Book (Headings)"/>
              </a:rPr>
              <a:t>nhiều</a:t>
            </a:r>
            <a:r>
              <a:rPr lang="en-US" sz="1800" dirty="0">
                <a:latin typeface="Sagona Book (Headings)"/>
              </a:rPr>
              <a:t> </a:t>
            </a:r>
            <a:r>
              <a:rPr lang="en-US" sz="1800" dirty="0" err="1">
                <a:latin typeface="Sagona Book (Headings)"/>
              </a:rPr>
              <a:t>đến</a:t>
            </a:r>
            <a:r>
              <a:rPr lang="en-US" sz="1800" dirty="0">
                <a:latin typeface="Sagona Book (Headings)"/>
              </a:rPr>
              <a:t> </a:t>
            </a:r>
            <a:r>
              <a:rPr lang="en-US" sz="1800" dirty="0" err="1">
                <a:latin typeface="Sagona Book (Headings)"/>
              </a:rPr>
              <a:t>doanh</a:t>
            </a:r>
            <a:r>
              <a:rPr lang="en-US" sz="1800" dirty="0">
                <a:latin typeface="Sagona Book (Headings)"/>
              </a:rPr>
              <a:t> </a:t>
            </a:r>
            <a:r>
              <a:rPr lang="en-US" sz="1800" dirty="0" err="1">
                <a:latin typeface="Sagona Book (Headings)"/>
              </a:rPr>
              <a:t>số</a:t>
            </a:r>
            <a:r>
              <a:rPr lang="en-US" sz="1800" dirty="0">
                <a:latin typeface="Sagona Book (Headings)"/>
              </a:rPr>
              <a:t> </a:t>
            </a:r>
            <a:r>
              <a:rPr lang="en-US" sz="1800" dirty="0" err="1">
                <a:latin typeface="Sagona Book (Headings)"/>
              </a:rPr>
              <a:t>của</a:t>
            </a:r>
            <a:r>
              <a:rPr lang="en-US" sz="1800" dirty="0">
                <a:latin typeface="Sagona Book (Headings)"/>
              </a:rPr>
              <a:t> </a:t>
            </a:r>
            <a:r>
              <a:rPr lang="en-US" sz="1800" dirty="0" err="1">
                <a:latin typeface="Sagona Book (Headings)"/>
              </a:rPr>
              <a:t>khu</a:t>
            </a:r>
            <a:r>
              <a:rPr lang="en-US" sz="1800" dirty="0">
                <a:latin typeface="Sagona Book (Headings)"/>
              </a:rPr>
              <a:t> </a:t>
            </a:r>
            <a:r>
              <a:rPr lang="en-US" sz="1800" dirty="0" err="1">
                <a:latin typeface="Sagona Book (Headings)"/>
              </a:rPr>
              <a:t>vực</a:t>
            </a:r>
            <a:r>
              <a:rPr lang="en-US" sz="1800" dirty="0">
                <a:latin typeface="Sagona Book (Headings)"/>
              </a:rPr>
              <a:t>.</a:t>
            </a:r>
          </a:p>
          <a:p>
            <a:r>
              <a:rPr lang="en-US" sz="1800" dirty="0">
                <a:latin typeface="Sagona Book (Headings)"/>
              </a:rPr>
              <a:t>	- </a:t>
            </a:r>
            <a:r>
              <a:rPr lang="en-US" sz="1800" dirty="0" err="1">
                <a:latin typeface="Sagona Book (Headings)"/>
              </a:rPr>
              <a:t>Ưu</a:t>
            </a:r>
            <a:r>
              <a:rPr lang="en-US" sz="1800" dirty="0">
                <a:latin typeface="Sagona Book (Headings)"/>
              </a:rPr>
              <a:t> </a:t>
            </a:r>
            <a:r>
              <a:rPr lang="en-US" sz="1800" dirty="0" err="1">
                <a:latin typeface="Sagona Book (Headings)"/>
              </a:rPr>
              <a:t>tiên</a:t>
            </a:r>
            <a:r>
              <a:rPr lang="en-US" sz="1800" dirty="0">
                <a:latin typeface="Sagona Book (Headings)"/>
              </a:rPr>
              <a:t> </a:t>
            </a:r>
            <a:r>
              <a:rPr lang="en-US" sz="1800" dirty="0" err="1">
                <a:latin typeface="Sagona Book (Headings)"/>
              </a:rPr>
              <a:t>đẩy</a:t>
            </a:r>
            <a:r>
              <a:rPr lang="en-US" sz="1800" dirty="0">
                <a:latin typeface="Sagona Book (Headings)"/>
              </a:rPr>
              <a:t> </a:t>
            </a:r>
            <a:r>
              <a:rPr lang="en-US" sz="1800" dirty="0" err="1">
                <a:latin typeface="Sagona Book (Headings)"/>
              </a:rPr>
              <a:t>mảnh</a:t>
            </a:r>
            <a:r>
              <a:rPr lang="en-US" sz="1800" dirty="0">
                <a:latin typeface="Sagona Book (Headings)"/>
              </a:rPr>
              <a:t> </a:t>
            </a:r>
            <a:r>
              <a:rPr lang="en-US" sz="1800" b="1" dirty="0">
                <a:latin typeface="Sagona Book (Headings)"/>
              </a:rPr>
              <a:t>Marketing</a:t>
            </a:r>
            <a:r>
              <a:rPr lang="en-US" sz="1800" dirty="0">
                <a:latin typeface="Sagona Book (Headings)"/>
              </a:rPr>
              <a:t> </a:t>
            </a:r>
            <a:r>
              <a:rPr lang="en-US" sz="1800" dirty="0" err="1">
                <a:latin typeface="Sagona Book (Headings)"/>
              </a:rPr>
              <a:t>cho</a:t>
            </a:r>
            <a:r>
              <a:rPr lang="en-US" sz="1800" dirty="0">
                <a:latin typeface="Sagona Book (Headings)"/>
              </a:rPr>
              <a:t> </a:t>
            </a:r>
            <a:r>
              <a:rPr lang="en-US" sz="1800" dirty="0" err="1">
                <a:latin typeface="Sagona Book (Headings)"/>
              </a:rPr>
              <a:t>khu</a:t>
            </a:r>
            <a:r>
              <a:rPr lang="en-US" sz="1800" dirty="0">
                <a:latin typeface="Sagona Book (Headings)"/>
              </a:rPr>
              <a:t> </a:t>
            </a:r>
            <a:r>
              <a:rPr lang="en-US" sz="1800" dirty="0" err="1">
                <a:latin typeface="Sagona Book (Headings)"/>
              </a:rPr>
              <a:t>vực</a:t>
            </a:r>
            <a:r>
              <a:rPr lang="en-US" sz="1800" dirty="0">
                <a:latin typeface="Sagona Book (Headings)"/>
              </a:rPr>
              <a:t> </a:t>
            </a:r>
            <a:r>
              <a:rPr lang="en-US" sz="1800" b="1" dirty="0">
                <a:latin typeface="Sagona Book (Headings)"/>
              </a:rPr>
              <a:t>Washington DC</a:t>
            </a:r>
            <a:r>
              <a:rPr lang="en-US" sz="1800" dirty="0">
                <a:latin typeface="Sagona Book (Headings)"/>
              </a:rPr>
              <a:t>. </a:t>
            </a:r>
            <a:r>
              <a:rPr lang="en-US" sz="1800" dirty="0" err="1">
                <a:latin typeface="Sagona Book (Headings)"/>
              </a:rPr>
              <a:t>Nếu</a:t>
            </a:r>
            <a:r>
              <a:rPr lang="en-US" sz="1800" dirty="0">
                <a:latin typeface="Sagona Book (Headings)"/>
              </a:rPr>
              <a:t> </a:t>
            </a:r>
            <a:r>
              <a:rPr lang="en-US" sz="1800" dirty="0" err="1">
                <a:latin typeface="Sagona Book (Headings)"/>
              </a:rPr>
              <a:t>thiếu</a:t>
            </a:r>
            <a:r>
              <a:rPr lang="en-US" sz="1800" dirty="0">
                <a:latin typeface="Sagona Book (Headings)"/>
              </a:rPr>
              <a:t> </a:t>
            </a:r>
            <a:r>
              <a:rPr lang="en-US" sz="1800" dirty="0" err="1">
                <a:latin typeface="Sagona Book (Headings)"/>
              </a:rPr>
              <a:t>nhân</a:t>
            </a:r>
            <a:r>
              <a:rPr lang="en-US" sz="1800" dirty="0">
                <a:latin typeface="Sagona Book (Headings)"/>
              </a:rPr>
              <a:t> </a:t>
            </a:r>
            <a:r>
              <a:rPr lang="en-US" sz="1800" dirty="0" err="1">
                <a:latin typeface="Sagona Book (Headings)"/>
              </a:rPr>
              <a:t>lực</a:t>
            </a:r>
            <a:r>
              <a:rPr lang="en-US" sz="1800" dirty="0">
                <a:latin typeface="Sagona Book (Headings)"/>
              </a:rPr>
              <a:t> </a:t>
            </a:r>
            <a:r>
              <a:rPr lang="en-US" sz="1800" dirty="0" err="1">
                <a:latin typeface="Sagona Book (Headings)"/>
              </a:rPr>
              <a:t>để</a:t>
            </a:r>
            <a:r>
              <a:rPr lang="en-US" sz="1800" dirty="0">
                <a:latin typeface="Sagona Book (Headings)"/>
              </a:rPr>
              <a:t> </a:t>
            </a:r>
            <a:r>
              <a:rPr lang="en-US" sz="1800" dirty="0" err="1">
                <a:latin typeface="Sagona Book (Headings)"/>
              </a:rPr>
              <a:t>làm</a:t>
            </a:r>
            <a:r>
              <a:rPr lang="en-US" sz="1800" dirty="0">
                <a:latin typeface="Sagona Book (Headings)"/>
              </a:rPr>
              <a:t> Off </a:t>
            </a:r>
            <a:r>
              <a:rPr lang="en-US" sz="1800" dirty="0" err="1">
                <a:latin typeface="Sagona Book (Headings)"/>
              </a:rPr>
              <a:t>thì</a:t>
            </a:r>
            <a:r>
              <a:rPr lang="en-US" sz="1800" dirty="0">
                <a:latin typeface="Sagona Book (Headings)"/>
              </a:rPr>
              <a:t> </a:t>
            </a:r>
            <a:r>
              <a:rPr lang="en-US" sz="1800" dirty="0" err="1">
                <a:latin typeface="Sagona Book (Headings)"/>
              </a:rPr>
              <a:t>có</a:t>
            </a:r>
            <a:r>
              <a:rPr lang="en-US" sz="1800" dirty="0">
                <a:latin typeface="Sagona Book (Headings)"/>
              </a:rPr>
              <a:t> </a:t>
            </a:r>
            <a:r>
              <a:rPr lang="en-US" sz="1800" dirty="0" err="1">
                <a:latin typeface="Sagona Book (Headings)"/>
              </a:rPr>
              <a:t>thể</a:t>
            </a:r>
            <a:r>
              <a:rPr lang="en-US" sz="1800" dirty="0">
                <a:latin typeface="Sagona Book (Headings)"/>
              </a:rPr>
              <a:t> chi </a:t>
            </a:r>
            <a:r>
              <a:rPr lang="en-US" sz="1800" dirty="0" err="1">
                <a:latin typeface="Sagona Book (Headings)"/>
              </a:rPr>
              <a:t>tiền</a:t>
            </a:r>
            <a:r>
              <a:rPr lang="en-US" sz="1800" dirty="0">
                <a:latin typeface="Sagona Book (Headings)"/>
              </a:rPr>
              <a:t> </a:t>
            </a:r>
            <a:r>
              <a:rPr lang="en-US" sz="1800" dirty="0" err="1">
                <a:latin typeface="Sagona Book (Headings)"/>
              </a:rPr>
              <a:t>cho</a:t>
            </a:r>
            <a:r>
              <a:rPr lang="en-US" sz="1800" dirty="0">
                <a:latin typeface="Sagona Book (Headings)"/>
              </a:rPr>
              <a:t> </a:t>
            </a:r>
            <a:r>
              <a:rPr lang="en-US" sz="1800" dirty="0" err="1">
                <a:latin typeface="Sagona Book (Headings)"/>
              </a:rPr>
              <a:t>Onl</a:t>
            </a:r>
            <a:r>
              <a:rPr lang="en-US" sz="1800" dirty="0">
                <a:latin typeface="Sagona Book (Headings)"/>
              </a:rPr>
              <a:t> </a:t>
            </a:r>
            <a:r>
              <a:rPr lang="en-US" sz="1800" dirty="0" err="1">
                <a:latin typeface="Sagona Book (Headings)"/>
              </a:rPr>
              <a:t>nhiều</a:t>
            </a:r>
            <a:r>
              <a:rPr lang="en-US" sz="1800" dirty="0">
                <a:latin typeface="Sagona Book (Headings)"/>
              </a:rPr>
              <a:t> </a:t>
            </a:r>
            <a:r>
              <a:rPr lang="en-US" sz="1800" dirty="0" err="1">
                <a:latin typeface="Sagona Book (Headings)"/>
              </a:rPr>
              <a:t>hơn</a:t>
            </a:r>
            <a:r>
              <a:rPr lang="en-US" sz="1800" dirty="0">
                <a:latin typeface="Sagona Book (Headings)"/>
              </a:rPr>
              <a:t> ở </a:t>
            </a:r>
            <a:r>
              <a:rPr lang="en-US" sz="1800" dirty="0" err="1">
                <a:latin typeface="Sagona Book (Headings)"/>
              </a:rPr>
              <a:t>khu</a:t>
            </a:r>
            <a:r>
              <a:rPr lang="en-US" sz="1800" dirty="0">
                <a:latin typeface="Sagona Book (Headings)"/>
              </a:rPr>
              <a:t> </a:t>
            </a:r>
            <a:r>
              <a:rPr lang="en-US" sz="1800" dirty="0" err="1">
                <a:latin typeface="Sagona Book (Headings)"/>
              </a:rPr>
              <a:t>vực</a:t>
            </a:r>
            <a:r>
              <a:rPr lang="en-US" sz="1800" dirty="0">
                <a:latin typeface="Sagona Book (Headings)"/>
              </a:rPr>
              <a:t> </a:t>
            </a:r>
            <a:r>
              <a:rPr lang="en-US" sz="1800" dirty="0" err="1">
                <a:latin typeface="Sagona Book (Headings)"/>
              </a:rPr>
              <a:t>này</a:t>
            </a:r>
            <a:endParaRPr lang="en-US" sz="1800" dirty="0">
              <a:latin typeface="Sagona Book (Headings)"/>
            </a:endParaRPr>
          </a:p>
          <a:p>
            <a:endParaRPr lang="en-US" dirty="0">
              <a:latin typeface="Sagona Book (Headings)"/>
            </a:endParaRPr>
          </a:p>
        </p:txBody>
      </p:sp>
      <p:sp>
        <p:nvSpPr>
          <p:cNvPr id="4" name="Picture Placeholder 3">
            <a:extLst>
              <a:ext uri="{FF2B5EF4-FFF2-40B4-BE49-F238E27FC236}">
                <a16:creationId xmlns:a16="http://schemas.microsoft.com/office/drawing/2014/main" id="{F29A6618-E762-453F-A7CE-45AA8FE619E9}"/>
              </a:ext>
            </a:extLst>
          </p:cNvPr>
          <p:cNvSpPr>
            <a:spLocks noGrp="1"/>
          </p:cNvSpPr>
          <p:nvPr>
            <p:ph type="pic" sz="quarter" idx="10"/>
          </p:nvPr>
        </p:nvSpPr>
        <p:spPr/>
      </p:sp>
    </p:spTree>
    <p:extLst>
      <p:ext uri="{BB962C8B-B14F-4D97-AF65-F5344CB8AC3E}">
        <p14:creationId xmlns:p14="http://schemas.microsoft.com/office/powerpoint/2010/main" val="859909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1B543F1-9168-44FD-87C0-E7C89F5BC478}"/>
              </a:ext>
            </a:extLst>
          </p:cNvPr>
          <p:cNvSpPr>
            <a:spLocks noGrp="1"/>
          </p:cNvSpPr>
          <p:nvPr>
            <p:ph type="title"/>
          </p:nvPr>
        </p:nvSpPr>
        <p:spPr/>
        <p:txBody>
          <a:bodyPr/>
          <a:lstStyle/>
          <a:p>
            <a:r>
              <a:rPr lang="en-US" dirty="0"/>
              <a:t>ĐỐI VỚI DOANH THU</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14" name="TextBox 13">
            <a:extLst>
              <a:ext uri="{FF2B5EF4-FFF2-40B4-BE49-F238E27FC236}">
                <a16:creationId xmlns:a16="http://schemas.microsoft.com/office/drawing/2014/main" id="{6138A58E-CA5E-4E39-ABD2-9CCB98A82D18}"/>
              </a:ext>
            </a:extLst>
          </p:cNvPr>
          <p:cNvSpPr txBox="1"/>
          <p:nvPr/>
        </p:nvSpPr>
        <p:spPr>
          <a:xfrm>
            <a:off x="1041400" y="1972733"/>
            <a:ext cx="9652000" cy="2585323"/>
          </a:xfrm>
          <a:prstGeom prst="rect">
            <a:avLst/>
          </a:prstGeom>
          <a:noFill/>
        </p:spPr>
        <p:txBody>
          <a:bodyPr wrap="square" rtlCol="0">
            <a:spAutoFit/>
          </a:bodyPr>
          <a:lstStyle/>
          <a:p>
            <a:r>
              <a:rPr lang="en-US" dirty="0">
                <a:latin typeface="Sagona Book (Headings)"/>
              </a:rPr>
              <a:t>	- </a:t>
            </a:r>
            <a:r>
              <a:rPr lang="vi-VN" dirty="0">
                <a:latin typeface="Sagona Book (Headings)"/>
              </a:rPr>
              <a:t>Thị trường cốt lõi (Core Markets): </a:t>
            </a:r>
            <a:r>
              <a:rPr lang="vi-VN" b="1" dirty="0">
                <a:latin typeface="Sagona Book (Headings)"/>
              </a:rPr>
              <a:t>Chicago</a:t>
            </a:r>
            <a:r>
              <a:rPr lang="vi-VN" dirty="0">
                <a:latin typeface="Sagona Book (Headings)"/>
              </a:rPr>
              <a:t> và </a:t>
            </a:r>
            <a:r>
              <a:rPr lang="vi-VN" b="1" dirty="0">
                <a:latin typeface="Sagona Book (Headings)"/>
              </a:rPr>
              <a:t>California</a:t>
            </a:r>
            <a:r>
              <a:rPr lang="vi-VN" dirty="0">
                <a:latin typeface="Sagona Book (Headings)"/>
              </a:rPr>
              <a:t> là hai thị trường quan trọng nhất, đóng góp hơn </a:t>
            </a:r>
            <a:r>
              <a:rPr lang="vi-VN" b="1" dirty="0">
                <a:latin typeface="Sagona Book (Headings)"/>
              </a:rPr>
              <a:t>65%</a:t>
            </a:r>
            <a:r>
              <a:rPr lang="vi-VN" dirty="0">
                <a:latin typeface="Sagona Book (Headings)"/>
              </a:rPr>
              <a:t> </a:t>
            </a:r>
            <a:r>
              <a:rPr lang="vi-VN" b="1" dirty="0">
                <a:latin typeface="Sagona Book (Headings)"/>
              </a:rPr>
              <a:t>tổng doanh thu</a:t>
            </a:r>
            <a:r>
              <a:rPr lang="vi-VN" dirty="0">
                <a:latin typeface="Sagona Book (Headings)"/>
              </a:rPr>
              <a:t>. </a:t>
            </a:r>
            <a:r>
              <a:rPr lang="vi-VN" b="1" dirty="0">
                <a:latin typeface="Sagona Book (Headings)"/>
              </a:rPr>
              <a:t>Chicago</a:t>
            </a:r>
            <a:r>
              <a:rPr lang="en-US" dirty="0">
                <a:latin typeface="Sagona Book (Headings)"/>
              </a:rPr>
              <a:t> </a:t>
            </a:r>
            <a:r>
              <a:rPr lang="vi-VN" dirty="0">
                <a:latin typeface="Sagona Book (Headings)"/>
              </a:rPr>
              <a:t>bán được số lượng lớn nhất, trong khi </a:t>
            </a:r>
            <a:r>
              <a:rPr lang="vi-VN" b="1" dirty="0">
                <a:latin typeface="Sagona Book (Headings)"/>
              </a:rPr>
              <a:t>California</a:t>
            </a:r>
            <a:r>
              <a:rPr lang="vi-VN" dirty="0">
                <a:latin typeface="Sagona Book (Headings)"/>
              </a:rPr>
              <a:t> có giá trị giao dịch trung bình cao hơn.</a:t>
            </a:r>
            <a:endParaRPr lang="en-US" dirty="0">
              <a:latin typeface="Sagona Book (Headings)"/>
            </a:endParaRPr>
          </a:p>
          <a:p>
            <a:r>
              <a:rPr lang="en-US" dirty="0">
                <a:latin typeface="Sagona Book (Headings)"/>
              </a:rPr>
              <a:t>	- </a:t>
            </a:r>
            <a:r>
              <a:rPr lang="vi-VN" dirty="0">
                <a:latin typeface="Sagona Book (Headings)"/>
              </a:rPr>
              <a:t>Tiềm năng tăng trưởng: </a:t>
            </a:r>
            <a:r>
              <a:rPr lang="vi-VN" b="1" dirty="0">
                <a:latin typeface="Sagona Book (Headings)"/>
              </a:rPr>
              <a:t>New Jersey </a:t>
            </a:r>
            <a:r>
              <a:rPr lang="vi-VN" dirty="0">
                <a:latin typeface="Sagona Book (Headings)"/>
              </a:rPr>
              <a:t>có Giá trị TB giao dịch khá cao (</a:t>
            </a:r>
            <a:r>
              <a:rPr lang="vi-VN" b="1" dirty="0">
                <a:latin typeface="Sagona Book (Headings)"/>
              </a:rPr>
              <a:t>180.55 USD</a:t>
            </a:r>
            <a:r>
              <a:rPr lang="vi-VN" dirty="0">
                <a:latin typeface="Sagona Book (Headings)"/>
              </a:rPr>
              <a:t>), gần bằng </a:t>
            </a:r>
            <a:r>
              <a:rPr lang="vi-VN" b="1" dirty="0">
                <a:latin typeface="Sagona Book (Headings)"/>
              </a:rPr>
              <a:t>California</a:t>
            </a:r>
            <a:r>
              <a:rPr lang="vi-VN" dirty="0">
                <a:latin typeface="Sagona Book (Headings)"/>
              </a:rPr>
              <a:t>, cho thấy khả năng khai thác thị trường này vẫn còn lớn nếu tăng cường số lượng bán ra.</a:t>
            </a:r>
            <a:endParaRPr lang="en-US" dirty="0">
              <a:latin typeface="Sagona Book (Headings)"/>
            </a:endParaRPr>
          </a:p>
          <a:p>
            <a:r>
              <a:rPr lang="en-US" dirty="0">
                <a:latin typeface="Sagona Book (Headings)"/>
              </a:rPr>
              <a:t>	- </a:t>
            </a:r>
            <a:r>
              <a:rPr lang="vi-VN" dirty="0">
                <a:latin typeface="Sagona Book (Headings)"/>
              </a:rPr>
              <a:t>Thị trường cần xem xét: </a:t>
            </a:r>
            <a:r>
              <a:rPr lang="vi-VN" b="1" dirty="0">
                <a:latin typeface="Sagona Book (Headings)"/>
              </a:rPr>
              <a:t>Washington DC </a:t>
            </a:r>
            <a:r>
              <a:rPr lang="vi-VN" dirty="0">
                <a:latin typeface="Sagona Book (Headings)"/>
              </a:rPr>
              <a:t>có doanh thu thấp nhất. Cần phân tích sâu hơn lý do (ví dụ: mật độ cạnh tranh, chiến lược marketing, hay loại sản phẩm được bán ở đây) để đưa ra hành động cụ thể.</a:t>
            </a:r>
            <a:endParaRPr lang="en-US" dirty="0">
              <a:latin typeface="Sagona Book (Headings)"/>
            </a:endParaRPr>
          </a:p>
        </p:txBody>
      </p:sp>
    </p:spTree>
    <p:extLst>
      <p:ext uri="{BB962C8B-B14F-4D97-AF65-F5344CB8AC3E}">
        <p14:creationId xmlns:p14="http://schemas.microsoft.com/office/powerpoint/2010/main" val="4132147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dirty="0"/>
              <a:t>ĐỐI VỚI CÔNG TY </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11040534" cy="3904488"/>
          </a:xfrm>
        </p:spPr>
        <p:txBody>
          <a:bodyPr>
            <a:normAutofit lnSpcReduction="10000"/>
          </a:bodyPr>
          <a:lstStyle/>
          <a:p>
            <a:pPr marL="342900" indent="-342900">
              <a:buAutoNum type="arabicPeriod"/>
            </a:pPr>
            <a:r>
              <a:rPr lang="en-US" sz="1600" b="1" dirty="0" err="1">
                <a:latin typeface="Sagona Book (Headings)"/>
              </a:rPr>
              <a:t>Mối</a:t>
            </a:r>
            <a:r>
              <a:rPr lang="en-US" sz="1600" b="1" dirty="0">
                <a:latin typeface="Sagona Book (Headings)"/>
              </a:rPr>
              <a:t> </a:t>
            </a:r>
            <a:r>
              <a:rPr lang="en-US" sz="1600" b="1" dirty="0" err="1">
                <a:latin typeface="Sagona Book (Headings)"/>
              </a:rPr>
              <a:t>liên</a:t>
            </a:r>
            <a:r>
              <a:rPr lang="en-US" sz="1600" b="1" dirty="0">
                <a:latin typeface="Sagona Book (Headings)"/>
              </a:rPr>
              <a:t> </a:t>
            </a:r>
            <a:r>
              <a:rPr lang="en-US" sz="1600" b="1" dirty="0" err="1">
                <a:latin typeface="Sagona Book (Headings)"/>
              </a:rPr>
              <a:t>hệ</a:t>
            </a:r>
            <a:r>
              <a:rPr lang="en-US" sz="1600" b="1" dirty="0">
                <a:latin typeface="Sagona Book (Headings)"/>
              </a:rPr>
              <a:t> </a:t>
            </a:r>
            <a:r>
              <a:rPr lang="en-US" sz="1600" b="1" dirty="0" err="1">
                <a:latin typeface="Sagona Book (Headings)"/>
              </a:rPr>
              <a:t>giữa</a:t>
            </a:r>
            <a:r>
              <a:rPr lang="en-US" sz="1600" b="1" dirty="0">
                <a:latin typeface="Sagona Book (Headings)"/>
              </a:rPr>
              <a:t> Chi </a:t>
            </a:r>
            <a:r>
              <a:rPr lang="en-US" sz="1600" b="1" dirty="0" err="1">
                <a:latin typeface="Sagona Book (Headings)"/>
              </a:rPr>
              <a:t>phí</a:t>
            </a:r>
            <a:r>
              <a:rPr lang="en-US" sz="1600" b="1" dirty="0">
                <a:latin typeface="Sagona Book (Headings)"/>
              </a:rPr>
              <a:t> Marketing &amp; </a:t>
            </a:r>
            <a:r>
              <a:rPr lang="en-US" sz="1600" b="1" dirty="0" err="1">
                <a:latin typeface="Sagona Book (Headings)"/>
              </a:rPr>
              <a:t>Khu</a:t>
            </a:r>
            <a:r>
              <a:rPr lang="en-US" sz="1600" b="1" dirty="0">
                <a:latin typeface="Sagona Book (Headings)"/>
              </a:rPr>
              <a:t> </a:t>
            </a:r>
            <a:r>
              <a:rPr lang="en-US" sz="1600" b="1" dirty="0" err="1">
                <a:latin typeface="Sagona Book (Headings)"/>
              </a:rPr>
              <a:t>vực</a:t>
            </a:r>
            <a:r>
              <a:rPr lang="en-US" sz="1600" dirty="0">
                <a:latin typeface="Sagona Book (Headings)"/>
              </a:rPr>
              <a:t>:</a:t>
            </a:r>
          </a:p>
          <a:p>
            <a:r>
              <a:rPr lang="en-US" sz="1600" dirty="0">
                <a:latin typeface="Sagona Book (Headings)"/>
              </a:rPr>
              <a:t>	- V</a:t>
            </a:r>
            <a:r>
              <a:rPr lang="vi-VN" sz="1600" dirty="0">
                <a:latin typeface="Sagona Book (Headings)"/>
              </a:rPr>
              <a:t>iệc tập trung chi phí vào </a:t>
            </a:r>
            <a:r>
              <a:rPr lang="vi-VN" sz="1600" b="1" dirty="0">
                <a:latin typeface="Sagona Book (Headings)"/>
              </a:rPr>
              <a:t>Marketing Offline (60%) </a:t>
            </a:r>
            <a:r>
              <a:rPr lang="vi-VN" sz="1600" dirty="0">
                <a:latin typeface="Sagona Book (Headings)"/>
              </a:rPr>
              <a:t>có vẻ đang hiệu quả trong việc thúc đẩy doanh số bán hàng tại các thị trường lớn như </a:t>
            </a:r>
            <a:r>
              <a:rPr lang="vi-VN" sz="1600" b="1" dirty="0">
                <a:latin typeface="Sagona Book (Headings)"/>
              </a:rPr>
              <a:t>Chicago</a:t>
            </a:r>
            <a:r>
              <a:rPr lang="vi-VN" sz="1600" dirty="0">
                <a:latin typeface="Sagona Book (Headings)"/>
              </a:rPr>
              <a:t> và </a:t>
            </a:r>
            <a:r>
              <a:rPr lang="vi-VN" sz="1600" b="1" dirty="0">
                <a:latin typeface="Sagona Book (Headings)"/>
              </a:rPr>
              <a:t>California</a:t>
            </a:r>
            <a:r>
              <a:rPr lang="vi-VN" sz="1600" dirty="0">
                <a:latin typeface="Sagona Book (Headings)"/>
              </a:rPr>
              <a:t>, nơi có thể có các cửa hàng vật lý, sự kiện, hoặc quảng cáo truyền thống.</a:t>
            </a:r>
            <a:r>
              <a:rPr lang="en-US" sz="1600" dirty="0">
                <a:latin typeface="Sagona Book (Headings)"/>
              </a:rPr>
              <a:t> </a:t>
            </a:r>
          </a:p>
          <a:p>
            <a:pPr marL="342900" indent="-342900">
              <a:buAutoNum type="arabicPeriod" startAt="2"/>
            </a:pPr>
            <a:r>
              <a:rPr lang="en-US" sz="1600" b="1" dirty="0" err="1">
                <a:latin typeface="Sagona Book (Headings)"/>
              </a:rPr>
              <a:t>Mối</a:t>
            </a:r>
            <a:r>
              <a:rPr lang="en-US" sz="1600" b="1" dirty="0">
                <a:latin typeface="Sagona Book (Headings)"/>
              </a:rPr>
              <a:t> </a:t>
            </a:r>
            <a:r>
              <a:rPr lang="en-US" sz="1600" b="1" dirty="0" err="1">
                <a:latin typeface="Sagona Book (Headings)"/>
              </a:rPr>
              <a:t>liên</a:t>
            </a:r>
            <a:r>
              <a:rPr lang="en-US" sz="1600" b="1" dirty="0">
                <a:latin typeface="Sagona Book (Headings)"/>
              </a:rPr>
              <a:t> </a:t>
            </a:r>
            <a:r>
              <a:rPr lang="en-US" sz="1600" b="1" dirty="0" err="1">
                <a:latin typeface="Sagona Book (Headings)"/>
              </a:rPr>
              <a:t>hệ</a:t>
            </a:r>
            <a:r>
              <a:rPr lang="en-US" sz="1600" b="1" dirty="0">
                <a:latin typeface="Sagona Book (Headings)"/>
              </a:rPr>
              <a:t> </a:t>
            </a:r>
            <a:r>
              <a:rPr lang="en-US" sz="1600" b="1" dirty="0" err="1">
                <a:latin typeface="Sagona Book (Headings)"/>
              </a:rPr>
              <a:t>giữa</a:t>
            </a:r>
            <a:r>
              <a:rPr lang="en-US" sz="1600" b="1" dirty="0">
                <a:latin typeface="Sagona Book (Headings)"/>
              </a:rPr>
              <a:t> </a:t>
            </a:r>
            <a:r>
              <a:rPr lang="en-US" sz="1600" b="1" dirty="0" err="1">
                <a:latin typeface="Sagona Book (Headings)"/>
              </a:rPr>
              <a:t>Giảm</a:t>
            </a:r>
            <a:r>
              <a:rPr lang="en-US" sz="1600" b="1" dirty="0">
                <a:latin typeface="Sagona Book (Headings)"/>
              </a:rPr>
              <a:t> </a:t>
            </a:r>
            <a:r>
              <a:rPr lang="en-US" sz="1600" b="1" dirty="0" err="1">
                <a:latin typeface="Sagona Book (Headings)"/>
              </a:rPr>
              <a:t>giá</a:t>
            </a:r>
            <a:r>
              <a:rPr lang="en-US" sz="1600" b="1" dirty="0">
                <a:latin typeface="Sagona Book (Headings)"/>
              </a:rPr>
              <a:t> &amp; </a:t>
            </a:r>
            <a:r>
              <a:rPr lang="en-US" sz="1600" b="1" dirty="0" err="1">
                <a:latin typeface="Sagona Book (Headings)"/>
              </a:rPr>
              <a:t>Doanh</a:t>
            </a:r>
            <a:r>
              <a:rPr lang="en-US" sz="1600" b="1" dirty="0">
                <a:latin typeface="Sagona Book (Headings)"/>
              </a:rPr>
              <a:t> </a:t>
            </a:r>
            <a:r>
              <a:rPr lang="en-US" sz="1600" b="1" dirty="0" err="1">
                <a:latin typeface="Sagona Book (Headings)"/>
              </a:rPr>
              <a:t>thu</a:t>
            </a:r>
            <a:r>
              <a:rPr lang="en-US" sz="1600" b="1" dirty="0">
                <a:latin typeface="Sagona Book (Headings)"/>
              </a:rPr>
              <a:t>/</a:t>
            </a:r>
            <a:r>
              <a:rPr lang="en-US" sz="1600" b="1" dirty="0" err="1">
                <a:latin typeface="Sagona Book (Headings)"/>
              </a:rPr>
              <a:t>Giá</a:t>
            </a:r>
            <a:r>
              <a:rPr lang="en-US" sz="1600" b="1" dirty="0">
                <a:latin typeface="Sagona Book (Headings)"/>
              </a:rPr>
              <a:t> </a:t>
            </a:r>
            <a:r>
              <a:rPr lang="en-US" sz="1600" b="1" dirty="0" err="1">
                <a:latin typeface="Sagona Book (Headings)"/>
              </a:rPr>
              <a:t>trị</a:t>
            </a:r>
            <a:r>
              <a:rPr lang="en-US" sz="1600" b="1" dirty="0">
                <a:latin typeface="Sagona Book (Headings)"/>
              </a:rPr>
              <a:t>:</a:t>
            </a:r>
          </a:p>
          <a:p>
            <a:r>
              <a:rPr lang="en-US" sz="1600" dirty="0">
                <a:latin typeface="Sagona Book (Headings)"/>
              </a:rPr>
              <a:t>	</a:t>
            </a:r>
            <a:r>
              <a:rPr lang="en-US" sz="1600" b="1" dirty="0">
                <a:latin typeface="Sagona Book (Headings)"/>
              </a:rPr>
              <a:t>- </a:t>
            </a:r>
            <a:r>
              <a:rPr lang="vi-VN" sz="1600" b="1" dirty="0">
                <a:latin typeface="Sagona Book (Headings)"/>
              </a:rPr>
              <a:t>Vấn đề 1: Chiến lược giảm giá không tối ư</a:t>
            </a:r>
            <a:r>
              <a:rPr lang="en-US" sz="1600" b="1" dirty="0">
                <a:latin typeface="Sagona Book (Headings)"/>
              </a:rPr>
              <a:t>u :</a:t>
            </a:r>
          </a:p>
          <a:p>
            <a:r>
              <a:rPr lang="en-US" sz="1600" dirty="0">
                <a:latin typeface="Sagona Book (Headings)"/>
              </a:rPr>
              <a:t>		+ </a:t>
            </a:r>
            <a:r>
              <a:rPr lang="vi-VN" sz="1600" b="1" dirty="0">
                <a:latin typeface="Sagona Book (Headings)"/>
              </a:rPr>
              <a:t>Nest-USA (54.69% Doanh thu) </a:t>
            </a:r>
            <a:r>
              <a:rPr lang="vi-VN" sz="1600" dirty="0">
                <a:latin typeface="Sagona Book (Headings)"/>
              </a:rPr>
              <a:t>và </a:t>
            </a:r>
            <a:r>
              <a:rPr lang="vi-VN" sz="1600" b="1" dirty="0">
                <a:latin typeface="Sagona Book (Headings)"/>
              </a:rPr>
              <a:t>Waze (Doanh thu thấp nhất) </a:t>
            </a:r>
            <a:r>
              <a:rPr lang="vi-VN" sz="1600" dirty="0">
                <a:latin typeface="Sagona Book (Headings)"/>
              </a:rPr>
              <a:t>đều được cấp cùng số lượng mã giảm giá.</a:t>
            </a:r>
            <a:endParaRPr lang="en-US" sz="1600" dirty="0">
              <a:latin typeface="Sagona Book (Headings)"/>
            </a:endParaRPr>
          </a:p>
          <a:p>
            <a:r>
              <a:rPr lang="en-US" sz="1600" dirty="0">
                <a:latin typeface="Sagona Book (Headings)"/>
              </a:rPr>
              <a:t>		+ </a:t>
            </a:r>
            <a:r>
              <a:rPr lang="vi-VN" sz="1600" dirty="0">
                <a:latin typeface="Sagona Book (Headings)"/>
              </a:rPr>
              <a:t>Việc giảm giá </a:t>
            </a:r>
            <a:r>
              <a:rPr lang="vi-VN" sz="1600" b="1" dirty="0">
                <a:latin typeface="Sagona Book (Headings)"/>
              </a:rPr>
              <a:t>30%</a:t>
            </a:r>
            <a:r>
              <a:rPr lang="vi-VN" sz="1600" dirty="0">
                <a:latin typeface="Sagona Book (Headings)"/>
              </a:rPr>
              <a:t> cho các mặt hàng chủ lực như </a:t>
            </a:r>
            <a:r>
              <a:rPr lang="vi-VN" sz="1600" b="1" dirty="0">
                <a:latin typeface="Sagona Book (Headings)"/>
              </a:rPr>
              <a:t>Nest </a:t>
            </a:r>
            <a:r>
              <a:rPr lang="vi-VN" sz="1600" dirty="0">
                <a:latin typeface="Sagona Book (Headings)"/>
              </a:rPr>
              <a:t>có thể làm giảm biên lợi nhuận một cách không cần thiết nếu những sản phẩm này vốn đã được ưa chuộng (Giá trị TB giao dịch </a:t>
            </a:r>
            <a:r>
              <a:rPr lang="vi-VN" sz="1600" b="1" dirty="0">
                <a:latin typeface="Sagona Book (Headings)"/>
              </a:rPr>
              <a:t>Nest</a:t>
            </a:r>
            <a:r>
              <a:rPr lang="vi-VN" sz="1600" dirty="0">
                <a:latin typeface="Sagona Book (Headings)"/>
              </a:rPr>
              <a:t> là </a:t>
            </a:r>
            <a:r>
              <a:rPr lang="vi-VN" sz="1600" b="1" dirty="0">
                <a:latin typeface="Sagona Book (Headings)"/>
              </a:rPr>
              <a:t>262.51 USD - cao nhất</a:t>
            </a:r>
            <a:r>
              <a:rPr lang="vi-VN" sz="1600" dirty="0">
                <a:latin typeface="Sagona Book (Headings)"/>
              </a:rPr>
              <a:t>).</a:t>
            </a:r>
            <a:endParaRPr lang="en-US" sz="1600" dirty="0">
              <a:latin typeface="Sagona Book (Headings)"/>
            </a:endParaRPr>
          </a:p>
          <a:p>
            <a:r>
              <a:rPr lang="en-US" sz="1600" dirty="0">
                <a:latin typeface="Sagona Book (Headings)"/>
              </a:rPr>
              <a:t>	</a:t>
            </a:r>
            <a:r>
              <a:rPr lang="en-US" sz="1600" b="1" dirty="0">
                <a:latin typeface="Sagona Book (Headings)"/>
              </a:rPr>
              <a:t>- </a:t>
            </a:r>
            <a:r>
              <a:rPr lang="en-US" sz="1600" b="1" dirty="0" err="1">
                <a:latin typeface="Sagona Book (Headings)"/>
              </a:rPr>
              <a:t>Vấn</a:t>
            </a:r>
            <a:r>
              <a:rPr lang="en-US" sz="1600" b="1" dirty="0">
                <a:latin typeface="Sagona Book (Headings)"/>
              </a:rPr>
              <a:t> </a:t>
            </a:r>
            <a:r>
              <a:rPr lang="en-US" sz="1600" b="1" dirty="0" err="1">
                <a:latin typeface="Sagona Book (Headings)"/>
              </a:rPr>
              <a:t>đề</a:t>
            </a:r>
            <a:r>
              <a:rPr lang="en-US" sz="1600" b="1" dirty="0">
                <a:latin typeface="Sagona Book (Headings)"/>
              </a:rPr>
              <a:t> 2: </a:t>
            </a:r>
            <a:r>
              <a:rPr lang="en-US" sz="1600" b="1" dirty="0" err="1">
                <a:latin typeface="Sagona Book (Headings)"/>
              </a:rPr>
              <a:t>Không</a:t>
            </a:r>
            <a:r>
              <a:rPr lang="en-US" sz="1600" b="1" dirty="0">
                <a:latin typeface="Sagona Book (Headings)"/>
              </a:rPr>
              <a:t> </a:t>
            </a:r>
            <a:r>
              <a:rPr lang="en-US" sz="1600" b="1" dirty="0" err="1">
                <a:latin typeface="Sagona Book (Headings)"/>
              </a:rPr>
              <a:t>thúc</a:t>
            </a:r>
            <a:r>
              <a:rPr lang="en-US" sz="1600" b="1" dirty="0">
                <a:latin typeface="Sagona Book (Headings)"/>
              </a:rPr>
              <a:t> </a:t>
            </a:r>
            <a:r>
              <a:rPr lang="en-US" sz="1600" b="1" dirty="0" err="1">
                <a:latin typeface="Sagona Book (Headings)"/>
              </a:rPr>
              <a:t>đẩy</a:t>
            </a:r>
            <a:r>
              <a:rPr lang="en-US" sz="1600" b="1" dirty="0">
                <a:latin typeface="Sagona Book (Headings)"/>
              </a:rPr>
              <a:t> </a:t>
            </a:r>
            <a:r>
              <a:rPr lang="en-US" sz="1600" b="1" dirty="0" err="1">
                <a:latin typeface="Sagona Book (Headings)"/>
              </a:rPr>
              <a:t>sản</a:t>
            </a:r>
            <a:r>
              <a:rPr lang="en-US" sz="1600" b="1" dirty="0">
                <a:latin typeface="Sagona Book (Headings)"/>
              </a:rPr>
              <a:t> </a:t>
            </a:r>
            <a:r>
              <a:rPr lang="en-US" sz="1600" b="1" dirty="0" err="1">
                <a:latin typeface="Sagona Book (Headings)"/>
              </a:rPr>
              <a:t>phẩm</a:t>
            </a:r>
            <a:r>
              <a:rPr lang="en-US" sz="1600" b="1" dirty="0">
                <a:latin typeface="Sagona Book (Headings)"/>
              </a:rPr>
              <a:t> </a:t>
            </a:r>
            <a:r>
              <a:rPr lang="en-US" sz="1600" b="1" dirty="0" err="1">
                <a:latin typeface="Sagona Book (Headings)"/>
              </a:rPr>
              <a:t>yếu</a:t>
            </a:r>
            <a:r>
              <a:rPr lang="en-US" sz="1600" b="1" dirty="0">
                <a:latin typeface="Sagona Book (Headings)"/>
              </a:rPr>
              <a:t>.</a:t>
            </a:r>
          </a:p>
          <a:p>
            <a:r>
              <a:rPr lang="en-US" sz="1600" dirty="0">
                <a:latin typeface="Sagona Book (Headings)"/>
              </a:rPr>
              <a:t>		+ </a:t>
            </a:r>
            <a:r>
              <a:rPr lang="vi-VN" sz="1600" dirty="0">
                <a:latin typeface="Sagona Book (Headings)"/>
              </a:rPr>
              <a:t>Các sản phẩm yếu như </a:t>
            </a:r>
            <a:r>
              <a:rPr lang="vi-VN" sz="1600" b="1" dirty="0">
                <a:latin typeface="Sagona Book (Headings)"/>
              </a:rPr>
              <a:t>Bottles, Android, Waze </a:t>
            </a:r>
            <a:r>
              <a:rPr lang="vi-VN" sz="1600" dirty="0">
                <a:latin typeface="Sagona Book (Headings)"/>
              </a:rPr>
              <a:t>không được ưu tiên số lượng mã giảm giá nhiều hơn để kích cầu.</a:t>
            </a:r>
            <a:endParaRPr lang="en-US" sz="1600" dirty="0">
              <a:latin typeface="Sagona Book (Headings)"/>
            </a:endParaRPr>
          </a:p>
        </p:txBody>
      </p:sp>
    </p:spTree>
    <p:extLst>
      <p:ext uri="{BB962C8B-B14F-4D97-AF65-F5344CB8AC3E}">
        <p14:creationId xmlns:p14="http://schemas.microsoft.com/office/powerpoint/2010/main" val="800999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{52FA367C-3EDA-47BE-B310-CBABAA75FE49}TF1ed9553b-00c4-4092-846a-c8f7f2908f3beecd942f_win32-8e33096c3cfc</Template>
  <TotalTime>111</TotalTime>
  <Words>1498</Words>
  <Application>Microsoft Office PowerPoint</Application>
  <PresentationFormat>Widescreen</PresentationFormat>
  <Paragraphs>60</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Gill Sans Nova Light</vt:lpstr>
      <vt:lpstr>Sagona Book</vt:lpstr>
      <vt:lpstr>Sagona Book (Headings)</vt:lpstr>
      <vt:lpstr>Custom</vt:lpstr>
      <vt:lpstr>Bảng báo cáo</vt:lpstr>
      <vt:lpstr>MỤC LỤC</vt:lpstr>
      <vt:lpstr>Theo như số liệu ta có thể thấy:  - Công ty đang được quan tâm nhiều hơn bởi phái nữ, khi phái nữ ở các thành phố hơn như California, Chicago và New York chiếm tỉ trọng hơn nam rất nhiều.  - Nhưng khi ta nhìn lên biểu đồ tròn ta thấy được tỉ lệ khách hàng nam sử dụng lâu dài và gắn bó hơn với công ty lại là khách hàng nam.   =&gt; Từ đó ta có thể kết luận rằng công ty đang thu hút được nhiều khách hàng nữ nhưng sản phẩm thì lại đang k giữ chân được họ dù họ là những người mua chính. Trong khi khách hàng Nam là những người ở lại với công ty nhưng sản phẩm lại chưa thực sự làm họ muốn chi tiền ra sử dụng nhiều hơn.</vt:lpstr>
      <vt:lpstr>Nhìn bảng ta thấy:  - Sự chênh lệch về thời gian công ty giữ chân được khách hàng là lớn đến như nào. Khi California và Chicago có thời gian dữ chân khách hàng rất lâu và Washington DC thì lại rất ít chưa bằng 1/5 so với 2 thành phố còn lại.  - So sánh lại với bảng ở slide 3 thì ta cũng thấy được 1 điều thời gian giữ chân khách hàng ít hơn do người mua hàng ở thành phố đó rất thấp.</vt:lpstr>
      <vt:lpstr>Sản phẩm chủ lực (Cash Cow): Nest-USA và Nest là động lực chính. Nest-USA chiếm hơn 54.69% tổng doanh thu (2.55 triệu USD). Nest có Giá trị trung bình mỗi giao dịch cao nhất (262.51 USD). Điều này cho thấy đây là sản phẩm cao cấp hoặc có giá trị đơn hàng lớn. Sản phẩm số lượng lớn/Giá trị thấp: Drinkware, Apparel, và Office có số lượng sản phẩm bán ra rất cao (hơn 88,000 chiếc cho Office), nhưng Giá trị trung bình giao dịch thấp (dưới 80 USD). Đây có thể là các mặt hàng khuyến mãi, giá rẻ hoặc sản phẩm "mồi". Cơ hội cải thiện: Các danh mục như Bottles, Android, Waze có doanh thu và số lượng bán ra rất thấp, cần xem xét lại chiến lược hoặc khả năng loại bỏ. More Bags có giá trị TB giao dịch khá cao (73.67 USD) nhưng doanh thu thấp, có thể tập trung đẩy mạnh để tăng trưởng. </vt:lpstr>
      <vt:lpstr>              Bảng "Số lượng mã giảm giá" cho thấy:  Tất cả 17 danh mục sản phẩm (Product Category) đều được áp dụng cùng một số lượng mã giảm giá, với 4 mã cho mỗi mức chiết khấu (10%, 20%, 30%).  Nhận định: Chiến lược giảm giá đang được áp dụng một cách đồng đều (non-differentiated) cho tất cả các danh mục, không có sự ưu tiên hay phân biệt giữa sản phẩm chủ lực (như Nest) và sản phẩm yếu hơn (như Android, Waze).              </vt:lpstr>
      <vt:lpstr>Tổng Doanh Thu (từ slide 5): 4,670,794.62 USD Tổng Chi phí Marketing (từ 2 bảng ): 1,733,550 USD Tỷ lệ Chi phí Marketing trên Doanh thu (M:S Ratio): 37,11% Nhận định:  - Công ty đang chi tiêu nhiều hơn cho Marketing Offline (1.03 triệu USD, chiếm 60%).   =&gt; Điều này có thể giải thích lý do tại sao các thị trường vật lý như Chicago và California có doanh thu cao nhất.  - Tỷ lệ chi phí Marketing trên Doanh thu là 37.11% là một con số khá cao.   =&gt; Điều này cho thấy hiệu quả chuyển đổi (ROI) của các chiến dịch marketing có thể chưa tối ưu, hoặc công ty đang trong giai đoạn đầu tư mạnh để giành thị phần.</vt:lpstr>
      <vt:lpstr>GIẢI PHÁP</vt:lpstr>
      <vt:lpstr>1. Tối ưu hóa Chi phí Marketing (Tỷ lệ 37.11%):  - Thử nghiệm dịch chuyển chi phí: Vì các thị trường lớn đang phát triển tốt, hãy thử chuyển một phần chi phí từ Offline sang Online (ví dụ: từ 60/40 thành 50/50 hoặc 45/55) để đo lường ROI. Mục tiêu là giảm tỷ lệ M:S xuống dưới 30% mà không ảnh hưởng đến doanh thu.    - Phân bổ chi phí theo khu vực: Phân bổ chi phí Online tập trung hơn vào các thị trường tiềm năng nhưng doanh thu còn thấp như New Jersey và Washington DC để thúc đẩy tăng trưởng số lượng.  2. Thiết lập Chiến lược Giảm giá Phân biệt:  - Bảo vệ lợi nhuận: Giảm số lượng mã giảm giá 30% cho các sản phẩm có Giá trị TB cao và bán chạy (Nest, Nest-USA). Thay vào đó, áp dụng giảm giá nhỏ hơn (10%) hoặc tạo các gói (bundle) sản phẩm để duy trì giá trị.   - Kích cầu: Tăng số lượng mã giảm giá 20% và 30% cho các danh mục có doanh thu thấp (Android, Waze, Bottles) để thúc đẩy việc bán hết hàng tồn kho. </vt:lpstr>
      <vt:lpstr>KẾT LUẬN</vt:lpstr>
      <vt:lpstr>ĐỐI VỚI KHÁCH HÀNG</vt:lpstr>
      <vt:lpstr>ĐỐI VỚI DOANH THU</vt:lpstr>
      <vt:lpstr>ĐỐI VỚI CÔNG TY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Bảng báo cáo</dc:title>
  <dc:creator>Th�i</dc:creator>
  <cp:lastModifiedBy>Th�i</cp:lastModifiedBy>
  <cp:revision>1</cp:revision>
  <dcterms:created xsi:type="dcterms:W3CDTF">2025-11-11T07:43:23Z</dcterms:created>
  <dcterms:modified xsi:type="dcterms:W3CDTF">2025-11-11T09:34:29Z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